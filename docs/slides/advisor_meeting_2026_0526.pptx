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53"/>
    <p:sldId id="257" r:id="rId54"/>
    <p:sldId id="258" r:id="rId55"/>
    <p:sldId id="259" r:id="rId56"/>
    <p:sldId id="260" r:id="rId57"/>
    <p:sldId id="261" r:id="rId58"/>
    <p:sldId id="262" r:id="rId59"/>
    <p:sldId id="263" r:id="rId60"/>
    <p:sldId id="264" r:id="rId61"/>
    <p:sldId id="265" r:id="rId62"/>
    <p:sldId id="266" r:id="rId63"/>
    <p:sldId id="267" r:id="rId64"/>
    <p:sldId id="268" r:id="rId65"/>
    <p:sldId id="269" r:id="rId66"/>
    <p:sldId id="270" r:id="rId67"/>
    <p:sldId id="271" r:id="rId68"/>
    <p:sldId id="272" r:id="rId69"/>
    <p:sldId id="273" r:id="rId70"/>
    <p:sldId id="274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slide" Target="slides/slide1.xml"/><Relationship Id="rId54" Type="http://schemas.openxmlformats.org/officeDocument/2006/relationships/slide" Target="slides/slide2.xml"/><Relationship Id="rId55" Type="http://schemas.openxmlformats.org/officeDocument/2006/relationships/slide" Target="slides/slide3.xml"/><Relationship Id="rId56" Type="http://schemas.openxmlformats.org/officeDocument/2006/relationships/slide" Target="slides/slide4.xml"/><Relationship Id="rId57" Type="http://schemas.openxmlformats.org/officeDocument/2006/relationships/slide" Target="slides/slide5.xml"/><Relationship Id="rId58" Type="http://schemas.openxmlformats.org/officeDocument/2006/relationships/slide" Target="slides/slide6.xml"/><Relationship Id="rId59" Type="http://schemas.openxmlformats.org/officeDocument/2006/relationships/slide" Target="slides/slide7.xml"/><Relationship Id="rId60" Type="http://schemas.openxmlformats.org/officeDocument/2006/relationships/slide" Target="slides/slide8.xml"/><Relationship Id="rId61" Type="http://schemas.openxmlformats.org/officeDocument/2006/relationships/slide" Target="slides/slide9.xml"/><Relationship Id="rId62" Type="http://schemas.openxmlformats.org/officeDocument/2006/relationships/slide" Target="slides/slide10.xml"/><Relationship Id="rId63" Type="http://schemas.openxmlformats.org/officeDocument/2006/relationships/slide" Target="slides/slide11.xml"/><Relationship Id="rId64" Type="http://schemas.openxmlformats.org/officeDocument/2006/relationships/slide" Target="slides/slide12.xml"/><Relationship Id="rId65" Type="http://schemas.openxmlformats.org/officeDocument/2006/relationships/slide" Target="slides/slide13.xml"/><Relationship Id="rId66" Type="http://schemas.openxmlformats.org/officeDocument/2006/relationships/slide" Target="slides/slide14.xml"/><Relationship Id="rId67" Type="http://schemas.openxmlformats.org/officeDocument/2006/relationships/slide" Target="slides/slide15.xml"/><Relationship Id="rId68" Type="http://schemas.openxmlformats.org/officeDocument/2006/relationships/slide" Target="slides/slide16.xml"/><Relationship Id="rId69" Type="http://schemas.openxmlformats.org/officeDocument/2006/relationships/slide" Target="slides/slide17.xml"/><Relationship Id="rId70" Type="http://schemas.openxmlformats.org/officeDocument/2006/relationships/slide" Target="slides/slide18.xml"/><Relationship Id="rId71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537" y="-55525"/>
            <a:ext cx="9242701" cy="51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09600" y="552449"/>
            <a:ext cx="7962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alibri"/>
              <a:buNone/>
              <a:defRPr b="1" sz="480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9600" y="2775339"/>
            <a:ext cx="79629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None/>
              <a:defRPr sz="3000">
                <a:solidFill>
                  <a:srgbClr val="0070C0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7084649" y="3485958"/>
            <a:ext cx="2083010" cy="2268423"/>
            <a:chOff x="0" y="0"/>
            <a:chExt cx="5554692" cy="6049127"/>
          </a:xfrm>
        </p:grpSpPr>
        <p:sp>
          <p:nvSpPr>
            <p:cNvPr id="14" name="Google Shape;14;p2"/>
            <p:cNvSpPr/>
            <p:nvPr/>
          </p:nvSpPr>
          <p:spPr>
            <a:xfrm>
              <a:off x="1246152" y="0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0"/>
                  </a:moveTo>
                  <a:lnTo>
                    <a:pt x="3137038" y="0"/>
                  </a:lnTo>
                  <a:lnTo>
                    <a:pt x="3137038" y="2683910"/>
                  </a:lnTo>
                  <a:lnTo>
                    <a:pt x="0" y="2683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 rot="10800000">
              <a:off x="1246152" y="1813058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2683911"/>
                  </a:moveTo>
                  <a:lnTo>
                    <a:pt x="3137038" y="2683911"/>
                  </a:lnTo>
                  <a:lnTo>
                    <a:pt x="3137038" y="0"/>
                  </a:lnTo>
                  <a:lnTo>
                    <a:pt x="0" y="0"/>
                  </a:lnTo>
                  <a:lnTo>
                    <a:pt x="0" y="2683911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0976" y="2345999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851564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3895"/>
            <a:ext cx="9144003" cy="114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6412" y="0"/>
            <a:ext cx="9190415" cy="15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">
  <p:cSld name="4_Title and Content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9345"/>
            <a:ext cx="9144003" cy="29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">
  <p:cSld name="4_Title and Content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9144003" cy="29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">
  <p:cSld name="4_Title and Content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9144003" cy="23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2">
  <p:cSld name="4_Title and Content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5400004">
            <a:off x="6042990" y="2046290"/>
            <a:ext cx="4943447" cy="125442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1">
  <p:cSld name="4_Title and Content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429"/>
            <a:ext cx="9144003" cy="8170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1">
  <p:cSld name="4_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75" name="Google Shape;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061213"/>
            <a:ext cx="3019927" cy="6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8991601" cy="76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37318"/>
            <a:ext cx="86868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228600" y="18859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3" name="Google Shape;83;p11"/>
          <p:cNvSpPr txBox="1"/>
          <p:nvPr>
            <p:ph idx="2" type="title"/>
          </p:nvPr>
        </p:nvSpPr>
        <p:spPr>
          <a:xfrm>
            <a:off x="228600" y="14308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3" type="body"/>
          </p:nvPr>
        </p:nvSpPr>
        <p:spPr>
          <a:xfrm>
            <a:off x="4574288" y="19008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5" name="Google Shape;85;p11"/>
          <p:cNvSpPr txBox="1"/>
          <p:nvPr>
            <p:ph idx="4" type="title"/>
          </p:nvPr>
        </p:nvSpPr>
        <p:spPr>
          <a:xfrm>
            <a:off x="4574288" y="14457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687" y="0"/>
            <a:ext cx="3479301" cy="27071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220795" y="5723"/>
            <a:ext cx="2789100" cy="2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503763" y="1276350"/>
            <a:ext cx="548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3511500" y="1276350"/>
            <a:ext cx="5480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8450" y="-10975"/>
            <a:ext cx="3245550" cy="5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228600" y="137319"/>
            <a:ext cx="5670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228600" y="1276350"/>
            <a:ext cx="567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9144003" cy="12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>
            <p:ph type="title"/>
          </p:nvPr>
        </p:nvSpPr>
        <p:spPr>
          <a:xfrm>
            <a:off x="228600" y="137318"/>
            <a:ext cx="8724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228600" y="13906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23" name="Google Shape;123;p17"/>
          <p:cNvSpPr txBox="1"/>
          <p:nvPr>
            <p:ph idx="2" type="body"/>
          </p:nvPr>
        </p:nvSpPr>
        <p:spPr>
          <a:xfrm>
            <a:off x="4574288" y="14055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87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type="title"/>
          </p:nvPr>
        </p:nvSpPr>
        <p:spPr>
          <a:xfrm>
            <a:off x="238525" y="600600"/>
            <a:ext cx="15042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2239588" y="209550"/>
            <a:ext cx="5798100" cy="48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3" name="Google Shape;143;p21"/>
          <p:cNvSpPr/>
          <p:nvPr/>
        </p:nvSpPr>
        <p:spPr>
          <a:xfrm rot="-1568439">
            <a:off x="3046172" y="3499012"/>
            <a:ext cx="7933211" cy="4339915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 rot="7006851">
            <a:off x="-3366185" y="574240"/>
            <a:ext cx="6240666" cy="2859428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78600">
            <a:off x="-1278925" y="-830825"/>
            <a:ext cx="2488001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172507">
            <a:off x="5365621" y="1354192"/>
            <a:ext cx="2960024" cy="692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1"/>
            <a:ext cx="86868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/>
              <a:t>Genomic Foundation Models for Metagenomic Read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Thesis Review &amp; Publication Discussion</a:t>
            </a:r>
          </a:p>
          <a:p>
            <a:pPr algn="ctr"/>
            <a:r>
              <a:rPr sz="1800"/>
              <a:t>楊明儒 · 2026-05-26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/>
              <a:t>Genomic Foundation Models for Metagenomic Read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Thesis Review &amp; Publication Discussion</a:t>
            </a:r>
          </a:p>
          <a:p>
            <a:pPr algn="ctr"/>
            <a:r>
              <a:rPr sz="1800"/>
              <a:t>楊明儒 · 2026-05-26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1  ·  The Research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1  ·  The Research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Problem  ·  Why Metagenomic Read Classification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Input → output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Input:  a single 150 bp DNA read from a microbiome sample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Output: which species (out of 1,535 in our reference inventory) it came from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it is hard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150 bp is short — many species share long sub-sequences (intra-genus similarity)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1,535 classes — every misclassified read contaminates the abundance estimate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Novel organisms (uncharacterised MAGs) often absent from any reference database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it matters in practice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Per-sample species abundance → diagnostics, microbiome studies, ecological monitoring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Tooling gap: $k$-mer methods (Kraken2/Bracken) fail on novel organisms — motivation for learned representations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Problem  ·  Why Metagenomic Read Classification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Input → output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Input:  a single 150 bp DNA read from a microbiome sample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Output: which species (out of 1,535 in our reference inventory) it came from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it is hard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150 bp is short — many species share long sub-sequences (intra-genus similarity)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1,535 classes — every misclassified read contaminates the abundance estimate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Novel organisms (uncharacterised MAGs) often absent from any reference database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it matters in practice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Per-sample species abundance → diagnostics, microbiome studies, ecological monitoring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Tooling gap: $k$-mer methods (Kraken2/Bracken) fail on novel organisms — motivation for learned representations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Comparison  ·  Three Model Families on Identical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All trained / evaluated on the same 50M-read balanced dataset (2,505 HGR-UMGS genomes)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(A)  NT-v2 + LoRA  —  pre-trained foundation model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498M-param Nucleotide Transformer v2, 6-mer tokenisation; only 1.1% params trainable via LoRA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Configurations: flat species classifier, hierarchical (genus→species), per-genus pipeline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(B)  MetaTransformer  —  trained from scratch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5M params, no pre-training; varies tokenisation: 6-mer (matches NT-v2) and 13-mer overlapping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Configurations: flat / hierarchical at both tokenisation choices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(C)  Kraken2  —  $k$-mer exact matching baseline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Custom DB built from the same 2,505 reference genomes; $k$=35, minimiser length 31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Provides the strongest non-learning baseline under fair (matched-reference) conditions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Three orthogonal axes: tokenisation × pre-training × routing architecture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Evaluation: 100K independent test set (UMGS+HGR) + 200K val with 219 OOD species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Comparison  ·  Three Model Families on Identical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All trained / evaluated on the same 50M-read balanced dataset (2,505 HGR-UMGS genomes)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(A)  NT-v2 + LoRA  —  pre-trained foundation model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498M-param Nucleotide Transformer v2, 6-mer tokenisation; only 1.1% params trainable via LoRA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Configurations: flat species classifier, hierarchical (genus→species), per-genus pipeline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(B)  MetaTransformer  —  trained from scratch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5M params, no pre-training; varies tokenisation: 6-mer (matches NT-v2) and 13-mer overlapping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Configurations: flat / hierarchical at both tokenisation choices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(C)  Kraken2  —  $k$-mer exact matching baseline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Custom DB built from the same 2,505 reference genomes; $k$=35, minimiser length 31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Provides the strongest non-learning baseline under fair (matched-reference) conditions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Three orthogonal axes: tokenisation × pre-training × routing architecture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Evaluation: 100K independent test set (UMGS+HGR) + 200K val with 219 OOD species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2  ·  Six Key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2  ·  Six Key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1  ·  Tokenisation Dominates Pre-training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Under matched 6-mer tokenisation, pre-training helps (controlled ablation)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NT-Genus (pre-trained, 6-mer):  67.07%  vs  MT 6-mer (scratch, 6-mer):  48.82%   →  +18.25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 tokeniser, same data, same task; pre-trained backbone contributes 18 pp at genus level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Across tokenisation, scratch-13-mer beats pre-trained-6-mer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(scratch, 13-mer):  87.42%  vs  NT-Genus (pre-trained, 6-mer):  67.07%   →  +20.35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Despite 100× fewer parameters and no pre-training, MT 13-mer wins by changing the tokeniser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Both factors matter — but at species level, tokenisation gap widens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Species:  MT 13-mer flat 49.7%  vs  NT-Species flat 17.8%   →  +31.9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6-mer tokeniser caps NT-v2's species ceiling far below 13-mer's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Pre-training contributes — but it cannot rescue an inadequate tokenisation choice at fine granularity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1  ·  Tokenisation Dominates Pre-training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Under matched 6-mer tokenisation, pre-training helps (controlled ablation)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NT-Genus (pre-trained, 6-mer):  67.07%  vs  MT 6-mer (scratch, 6-mer):  48.82%   →  +18.25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 tokeniser, same data, same task; pre-trained backbone contributes 18 pp at genus level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Across tokenisation, scratch-13-mer beats pre-trained-6-mer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(scratch, 13-mer):  87.42%  vs  NT-Genus (pre-trained, 6-mer):  67.07%   →  +20.35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Despite 100× fewer parameters and no pre-training, MT 13-mer wins by changing the tokeniser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Both factors matter — but at species level, tokenisation gap widens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Species:  MT 13-mer flat 49.7%  vs  NT-Species flat 17.8%   →  +31.9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6-mer tokeniser caps NT-v2's species ceiling far below 13-mer's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Pre-training contributes — but it cannot rescue an inadequate tokenisation choice at fine granularity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2  ·  Data Volume Dominates Training Tricks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Data scale: 500K → 5M reads at genus level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Validation accuracy: 55.3% → 63.1%   →   +7.76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5M → 50M:  +4.02 pp; gains decrease but remain meaningful at every doubling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Training tricks (each tested as a controlled ablation)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Logit Adjustment (Menon et al. 2021):                  ±0.3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RC Consistency Loss (KL divergence forward vs RC):      ±0.5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Class-balanced sampler:                                 ±0.4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Differential learning rates / LoRA rank tuning:          ±0.5 pp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Test-time RC augmentation (free)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+1 to 1.5 pp at every scale — exploits biological strand symmetry of DNA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Data scaling beats hyperparameter tuning by &gt;10×; engineering effort is better spent 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2  ·  Data Volume Dominates Training Tricks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Data scale: 500K → 5M reads at genus level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Validation accuracy: 55.3% → 63.1%   →   +7.76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5M → 50M:  +4.02 pp; gains decrease but remain meaningful at every doubling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Training tricks (each tested as a controlled ablation)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Logit Adjustment (Menon et al. 2021):                  ±0.3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RC Consistency Loss (KL divergence forward vs RC):      ±0.5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Class-balanced sampler:                                 ±0.4 pp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Differential learning rates / LoRA rank tuning:          ±0.5 pp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Test-time RC augmentation (free)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+1 to 1.5 pp at every scale — exploits biological strand symmetry of DNA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Data scaling beats hyperparameter tuning by &gt;10×; engineering effort is better spent on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3  ·  A Practical Utility Threshold Exists at Species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At genus level (120 classes), abundance estimation is forgiving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Even 48.8% read accuracy → Pearson $r$ = 0.984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67% accuracy → r = 0.993;  87% accuracy → r = 0.999;  saturated everywhere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At species level (1,535 classes), the picture is starkly different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 17.8% → Pearson r = 0.135  (low, noise-floor-limited)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 49.7% → Pearson r = 0.466  (practically useful)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3.4× r gap from a 2.8× accuracy gap → non-linear utility curve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Mechanistic explanation: signal-to-noise floor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Each species contributes ~0.65 reads/sample (1,000 reads / 1,535 species)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At 17.8% accuracy: ~0.54 spurious reads/species from misclassification → SNR ≈ 1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At 50% accuracy: spurious noise drops to ~0.33 reads/species → signal dominates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Threshold: ~40–50% per-read accuracy required for usable species abundance estimates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3  ·  A Practical Utility Threshold Exists at Species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At genus level (120 classes), abundance estimation is forgiving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Even 48.8% read accuracy → Pearson $r$ = 0.984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67% accuracy → r = 0.993;  87% accuracy → r = 0.999;  saturated everywhere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At species level (1,535 classes), the picture is starkly different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NT-Species  17.8% → Pearson r = 0.135  (low, noise-floor-limited)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 49.7% → Pearson r = 0.466  (practically useful)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3.4× r gap from a 2.8× accuracy gap → non-linear utility curve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Mechanistic explanation: signal-to-noise floor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Each species contributes ~0.65 reads/sample (1,000 reads / 1,535 species)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At 17.8% accuracy: ~0.54 spurious reads/species from misclassification → SNR ≈ 1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At 50% accuracy: spurious noise drops to ~0.33 reads/species → signal dominates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Threshold: ~40–50% per-read accuracy required for usable species abundance estimates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4  ·  Hierarchical Masking Is Router-Dependent (Monotonic)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Hierarchical = genus router predicts a genus, then mask species logits to that genus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Across three router qualities, the effect is monotonic in router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Router 87.5% (MT 13-mer) → species Top-1:  49.7% → 50.9%   (+1.12 pp)        ✓ all 5 sample metrics improve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Router 66.0% (NT-Genus)  → species Top-1:  17.8% → 15.8%   (–2.0 pp)         ✗ 4 of 5 sample metrics degrade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Router 48.9% (MT 6-mer)  → species Top-1:   9.2% → 6.4%    (–2.8 pp)         ✗ largest degradation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Intuition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the router is right, masking removes wrong candidates (good)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the router is wrong, masking excludes the correct species (catastrophic)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Implication: hierarchical methods only help if you can afford an accurate router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Practical threshold: router accuracy &gt; ~80% is required for net positive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4  ·  Hierarchical Masking Is Router-Dependent (Monotonic)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Hierarchical = genus router predicts a genus, then mask species logits to that genus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Across three router qualities, the effect is monotonic in router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Router 87.5% (MT 13-mer) → species Top-1:  49.7% → 50.9%   (+1.12 pp)        ✓ all 5 sample metrics improve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Router 66.0% (NT-Genus)  → species Top-1:  17.8% → 15.8%   (–2.0 pp)         ✗ 4 of 5 sample metrics degrade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Router 48.9% (MT 6-mer)  → species Top-1:   9.2% → 6.4%    (–2.8 pp)         ✗ largest degradation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Intuition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the router is right, masking removes wrong candidates (good)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the router is wrong, masking excludes the correct species (catastrophic)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Implication: hierarchical methods only help if you can afford an accurate router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Practical threshold: router accuracy &gt; ~80% is required for net positive effect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5  ·  Per-Genus Oracle Quantifies the Tokenisation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NT-v2 per-genus pipeline: 120 per-genus species classifiers + genus router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Predicted routing (NT-Genus 66.0% router) vs oracle (perfect genus)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Predicted: 15.6% Top-1  ·  Pearson r 0.083  ·  ROC AUC 0.789                     (worse than flat NT-Species)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Oracle:    29.5% Top-1  ·  Pearson r 0.159  ·  ROC AUC 0.842                     (best of any NT-v2 config)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13.9 pp gap quantifies the cost of imperfect genus routing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Most important: the oracle 29.5% is the *ceiling* of the 6-mer NT-v2 framework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Even with PERFECT genus knowledge, 6-mer NT-v2 cannot exceed 30% species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49.7% (no routing at all, single model, scratch)                  → +20 pp above NT-v2 oracle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Tokenisation is the bottleneck, not routing architecture or pre-training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5  ·  Per-Genus Oracle Quantifies the Tokenisation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NT-v2 per-genus pipeline: 120 per-genus species classifiers + genus router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Predicted routing (NT-Genus 66.0% router) vs oracle (perfect genus)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Predicted: 15.6% Top-1  ·  Pearson r 0.083  ·  ROC AUC 0.789                     (worse than flat NT-Species)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Oracle:    29.5% Top-1  ·  Pearson r 0.159  ·  ROC AUC 0.842                     (best of any NT-v2 config)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13.9 pp gap quantifies the cost of imperfect genus routing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Most important: the oracle 29.5% is the *ceiling* of the 6-mer NT-v2 framework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Even with PERFECT genus knowledge, 6-mer NT-v2 cannot exceed 30% species accuracy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flat: 49.7% (no routing at all, single model, scratch)                  → +20 pp above NT-v2 oracle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Takeaway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Tokenisation is the bottleneck, not routing architecture or pre-training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6  ·  Kraken2 Wins In-Database, Fails on Novel Organisms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Fair comparison: Kraken2 ($k$=35) on the same 100K test set, same reference genomes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Kraken2 (in-DB) species: 66.2% read acc  ·  Pearson r 0.727  ·  Bray-Curtis 0.218  ·  ROC AUC 0.925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Best neural model (MT 13-mer hier): 50.9% / 0.478 / 0.369 / 0.967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Kraken2 wins on 5 of 6 sample metrics; loses only on ROC AUC (its 30% abstention caps detection)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$k$-mer matching wins on simulated reads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Simulated 150 bp reads drawn directly from reference genomes → exact 35-mer matches are abundant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Kraken2 commits, precision is 94.6% (species) / 99.3% (genus); but it commits to only 70% of reads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The OOD story (parallel validation set with 219 GCF species absent from the DB)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Kraken2 on OOD species:  0% (no $k$-mer matches available)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Neural models (NT-v2 / MT) still produce low-but-non-zero species posterior on OOD reads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Positioning: learned methods complement, not replace, $k$-mer methods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In-DB ≈ Kraken2 wins;  OOD ≈ only neural still has signal — they target different deployment regimes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6  ·  Kraken2 Wins In-Database, Fails on Novel Organisms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Fair comparison: Kraken2 ($k$=35) on the same 100K test set, same reference genomes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Kraken2 (in-DB) species: 66.2% read acc  ·  Pearson r 0.727  ·  Bray-Curtis 0.218  ·  ROC AUC 0.925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Best neural model (MT 13-mer hier): 50.9% / 0.478 / 0.369 / 0.967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Kraken2 wins on 5 of 6 sample metrics; loses only on ROC AUC (its 30% abstention caps detection)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$k$-mer matching wins on simulated reads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Simulated 150 bp reads drawn directly from reference genomes → exact 35-mer matches are abundant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When Kraken2 commits, precision is 94.6% (species) / 99.3% (genus); but it commits to only 70% of reads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The OOD story (parallel validation set with 219 GCF species absent from the DB)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Kraken2 on OOD species:  0% (no $k$-mer matches available)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Neural models (NT-v2 / MT) still produce low-but-non-zero species posterior on OOD reads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Positioning: learned methods complement, not replace, $k$-mer methods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In-DB ≈ Kraken2 wins;  OOD ≈ only neural still has signal — they target different deployment regimes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3  ·  Synthesis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3  ·  Synthesis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Complete Sample-Level Results  (100K test, 1K reads/sample, 1,535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          Read Acc   Pearson r   Bray-Curtis   ROC AUC   Sens@95%spec</a:t>
            </a:r>
          </a:p>
          <a:p>
            <a:pPr/>
            <a:r>
              <a:rPr b="0" sz="1600">
                <a:solidFill>
                  <a:srgbClr val="5555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flat                17.8%       0.135        0.589        0.794      55.2%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hier.               15.8%       0.106        0.608        0.796      53.0%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NT-v2 per-genus (predicted)    15.6%       0.083        0.625        0.789      52.5%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NT-v2 per-genus (oracle)       29.5%       0.159        0.541        0.842      65.2%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6-mer flat                   9.2%       0.065        0.654        0.690       7.1%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6-mer hier.                  6.4%       0.034        0.686        0.667       5.7%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flat                 49.7%       0.466        0.378        0.966      82.6%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hier.                50.9%       0.478        0.369        0.967      83.1%</a:t>
            </a:r>
          </a:p>
          <a:p>
            <a:pPr/>
            <a:r>
              <a:rPr b="0" sz="1600">
                <a:solidFill>
                  <a:srgbClr val="5555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Kraken2 (in-DB)                66.2%       0.727        0.218        0.925      85.7%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Kraken2 (OOD: 219 GCF)          0.0%       —            —            —          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Complete Sample-Level Results  (100K test, 1K reads/sample, 1,535 species)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Model                         Read Acc   Pearson r   Bray-Curtis   ROC AUC   Sens@95%spec</a:t>
            </a:r>
          </a:p>
          <a:p>
            <a:pPr/>
            <a:r>
              <a:rPr b="0" sz="1600">
                <a:solidFill>
                  <a:srgbClr val="5555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flat                17.8%       0.135        0.589        0.794      55.2%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NT-Species hier.               15.8%       0.106        0.608        0.796      53.0%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NT-v2 per-genus (predicted)    15.6%       0.083        0.625        0.789      52.5%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NT-v2 per-genus (oracle)       29.5%       0.159        0.541        0.842      65.2%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6-mer flat                   9.2%       0.065        0.654        0.690       7.1%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6-mer hier.                  6.4%       0.034        0.686        0.667       5.7%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flat                 49.7%       0.466        0.378        0.966      82.6%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MT 13-mer hier.                50.9%       0.478        0.369        0.967      83.1%</a:t>
            </a:r>
          </a:p>
          <a:p>
            <a:pPr/>
            <a:r>
              <a:rPr b="0" sz="1600">
                <a:solidFill>
                  <a:srgbClr val="5555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Kraken2 (in-DB)                66.2%       0.727        0.218        0.925      85.7%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Kraken2 (OOD: 219 GCF)          0.0%       —            —            —          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Unifying Story  ·  Tokenisation Is the Hidden Bottleneck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C00000"/>
                </a:solidFill>
              </a:rPr>
              <a:t>What does NOT explain the species-level gap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parameter count: NT-v2 has 498M params, MT has 5M — yet MT 13-mer wins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pre-training: NT-v2 has 850-genome pre-training, MT has none — yet MT 13-mer wins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routing: NT-v2 oracle (perfect router) is still 21 pp below MT 13-mer flat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What DOES explain it: tokenisation granularity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6-mer non-overlapping (NT-v2's design) loses fine-grained sequence detail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13-mer overlapping (MT design) preserves more discriminative substring information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The species-level discriminability ceiling is set by the tokeniser, not the model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this finding is non-obvious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Foundation-model literature emphasises scale + pre-training; tokenisation is rarely ablated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Our controlled 50M-training comparison isolates the tokenisation variable cleanly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Same-database Kraken2 comparison places the finding in the broader metagenomics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Unifying Story  ·  Tokenisation Is the Hidden Bottleneck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C00000"/>
                </a:solidFill>
              </a:rPr>
              <a:t>What does NOT explain the species-level gap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parameter count: NT-v2 has 498M params, MT has 5M — yet MT 13-mer wins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pre-training: NT-v2 has 850-genome pre-training, MT has none — yet MT 13-mer wins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It is not routing: NT-v2 oracle (perfect router) is still 21 pp below MT 13-mer flat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What DOES explain it: tokenisation granularity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6-mer non-overlapping (NT-v2's design) loses fine-grained sequence detail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13-mer overlapping (MT design) preserves more discriminative substring information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The species-level discriminability ceiling is set by the tokeniser, not the model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Why this finding is non-obvious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Foundation-model literature emphasises scale + pre-training; tokenisation is rarely ablated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Our controlled 50M-training comparison isolates the tokenisation variable cleanly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Same-database Kraken2 comparison places the finding in the broader metagenomics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What This Work Contributes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(1)  A controlled 3-axis ablation:  tokenisation × pre-training × routing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 50M training data; same test set; same evaluation protocol across all configurations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Identifies tokenisation as the dominant factor at species granularity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(2)  Quantitative noise-floor analysis at species level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Demonstrates a non-linear utility curve: &lt;20% acc → r ≈ 0.13;  50% acc → r ≈ 0.47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Establishes a 40–50% accuracy threshold for sample-level abundance utility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(3)  Router quality threshold theorem (empirical)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Hierarchical masking effect is monotonic in router accuracy across three router qualities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Net positive only above ~80% router accuracy — informs hierarchical pipeline design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(4)  Same-database Kraken2 comparison with OOD analysis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Kraken2 wins in-DB on simulated reads;  fails entirely on OOD species (0%)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Positions learned methods as complementary to $k$-mer matching, not strict competitors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What This Work Contributes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(1)  A controlled 3-axis ablation:  tokenisation × pre-training × routing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Same 50M training data; same test set; same evaluation protocol across all configurations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Identifies tokenisation as the dominant factor at species granularity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(2)  Quantitative noise-floor analysis at species level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Demonstrates a non-linear utility curve: &lt;20% acc → r ≈ 0.13;  50% acc → r ≈ 0.47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Establishes a 40–50% accuracy threshold for sample-level abundance utility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(3)  Router quality threshold theorem (empirical)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Hierarchical masking effect is monotonic in router accuracy across three router qualities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Net positive only above ~80% router accuracy — informs hierarchical pipeline design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(4)  Same-database Kraken2 comparison with OOD analysis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Kraken2 wins in-DB on simulated reads;  fails entirely on OOD species (0%)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Positions learned methods as complementary to $k$-mer matching, not strict competitors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4  ·  Publication Direction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4080"/>
                </a:solidFill>
              </a:rPr>
              <a:t>Part 4  ·  Publication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Publication Direction  ·  Candidate Venues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Option A   ·   Bioinformatics venue (primary recommendation)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Targets: Bioinformatics, BMC Bioinformatics, NAR, or Microbiome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Strength: same-DB Kraken2 baseline + OOD analysis + sample-level metrics = direct dialogue with field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Framing: "Foundation models vs $k$-mer matching for metagenomic reads — when does each work?"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Option B   ·   ML / NLP workshop (secondary)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Targets: NeurIPS LMRL/MLCB workshop, ICML CompBio, ICLR ML4Bio</a:t>
            </a:r>
          </a:p>
          <a:p>
            <a:pPr lvl="1"/>
            <a:r>
              <a:rPr b="1" sz="1400">
                <a:solidFill>
                  <a:srgbClr val="0070C0"/>
                </a:solidFill>
              </a:rPr>
              <a:t>Framing: "Tokenisation &gt; Pre-training in DNA Foundation Models — A Controlled Ablation"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Pure ML angle: foundation-model tokenisation as an under-studied axis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Option C   ·   Thesis only (NTU Master's, June 2026)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Already at 135 pages, story is complete, ready for defense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Easiest path; could combine with Option A as a parallel track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Recommended combination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Thesis (June) → Bioinformatics submission (July–Aug) → ML workshop if rejected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Publication Direction  ·  Candidate Venues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Option A   ·   Bioinformatics venue (primary recommendation)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Targets: Bioinformatics, BMC Bioinformatics, NAR, or Microbiome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Strength: same-DB Kraken2 baseline + OOD analysis + sample-level metrics = direct dialogue with field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Framing: "Foundation models vs $k$-mer matching for metagenomic reads — when does each work?"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Option B   ·   ML / NLP workshop (secondary)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Targets: NeurIPS LMRL/MLCB workshop, ICML CompBio, ICLR ML4Bio</a:t>
            </a:r>
          </a:p>
          <a:p>
            <a:pPr lvl="1"/>
            <a:r>
              <a:rPr b="1" sz="1400">
                <a:solidFill>
                  <a:srgbClr val="0070C0"/>
                </a:solidFill>
              </a:rPr>
              <a:t>Framing: "Tokenisation &gt; Pre-training in DNA Foundation Models — A Controlled Ablation"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Pure ML angle: foundation-model tokenisation as an under-studied axis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Option C   ·   Thesis only (NTU Master's, June 2026)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Already at 135 pages, story is complete, ready for defense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Easiest path; could combine with Option A as a parallel track</a:t>
            </a:r>
          </a:p>
          <a:p>
            <a:pPr/>
            <a:r>
              <a:rPr b="1" sz="1600">
                <a:solidFill>
                  <a:srgbClr val="004080"/>
                </a:solidFill>
              </a:rPr>
              <a:t>Recommended combination</a:t>
            </a:r>
          </a:p>
          <a:p>
            <a:pPr lvl="1"/>
            <a:r>
              <a:rPr b="1" sz="1400">
                <a:solidFill>
                  <a:srgbClr val="004080"/>
                </a:solidFill>
              </a:rPr>
              <a:t>Thesis (June) → Bioinformatics submission (July–Aug) → ML workshop if rejected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Honest Assessment  ·  Strengths and Weaknesses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Strengths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Same-data, same-test, same-DB ablation: unusually clean comparison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Sample-level metrics (Pearson r, BC, ROC AUC) bridge read-level results to real workflows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Kraken2 baseline closes the "why not just use Kraken2?" objection head-on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Mechanistic story (noise floor, router threshold) — not just empirical numbers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Weaknesses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Simulated reads only (ART Illumina), no real metagenomic dataset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Limited reference inventory (2,505 genomes vs. thousands+ in standard DBs)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No paired-end, error-profile, or low-coverage robustness tests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Mitigations (for a paper)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Position as a "controlled comparison study" — acknowledge simulated scope explicitly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Add 1 real-dataset validation (e.g., HMP or a public MAG-rich sample) as a sanity check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OOD experiment (Kraken2 0% vs neural &gt;0%) doubles as a robustness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Honest Assessment  ·  Strengths and Weaknesses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Strengths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Same-data, same-test, same-DB ablation: unusually clean comparison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Sample-level metrics (Pearson r, BC, ROC AUC) bridge read-level results to real workflows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Kraken2 baseline closes the "why not just use Kraken2?" objection head-on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Mechanistic story (noise floor, router threshold) — not just empirical numbers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Weaknesses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Simulated reads only (ART Illumina), no real metagenomic dataset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Limited reference inventory (2,505 genomes vs. thousands+ in standard DBs)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No paired-end, error-profile, or low-coverage robustness tests</a:t>
            </a:r>
          </a:p>
          <a:p>
            <a:pPr/>
            <a:r>
              <a:rPr b="1" sz="1600">
                <a:solidFill>
                  <a:srgbClr val="D06000"/>
                </a:solidFill>
              </a:rPr>
              <a:t>Mitigations (for a paper)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Position as a "controlled comparison study" — acknowledge simulated scope explicitly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Add 1 real-dataset validation (e.g., HMP or a public MAG-rich sample) as a sanity check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OOD experiment (Kraken2 0% vs neural &gt;0%) doubles as a robustness signal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Recommended Next Steps  ·  Asking for Your Input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Immediate (next 4 weeks, towards thesis defense)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Finalise thesis (135 pp, all results in; minor polish + final figures)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Receive remaining MT per-genus results from Taiwana2 → optional Exp F row in Table 4.29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Mock defense + slide deck for thesis presentation (mid-June)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Short term (June–August, towards submission)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Add a small real-dataset validation (e.g., HMP mock community) as Section 4.x or Appendix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Rewrite Chapter 4 → 10–12 page Bioinformatics-style manuscript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 submission: Bioinformatics or BMC Bioinformatics by end of August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Decisions I would like your input on today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Q1: Bioinformatics submission as primary venue — agreed?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Q2: Real-dataset validation — necessary before submission, or post-defense addendum?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Q3: ML workshop as secondary venue — worth the effort, or focus on bioinformatics community?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Q4: Are there collaborators or datasets you would want included before submission?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Recommended Next Steps  ·  Asking for Your Input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Immediate (next 4 weeks, towards thesis defense)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Finalise thesis (135 pp, all results in; minor polish + final figures)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Receive remaining MT per-genus results from Taiwana2 → optional Exp F row in Table 4.29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Mock defense + slide deck for thesis presentation (mid-June)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Short term (June–August, towards submission)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Add a small real-dataset validation (e.g., HMP mock community) as Section 4.x or Appendix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Rewrite Chapter 4 → 10–12 page Bioinformatics-style manuscript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Target submission: Bioinformatics or BMC Bioinformatics by end of August</a:t>
            </a:r>
          </a:p>
          <a:p>
            <a:pPr/>
            <a:r>
              <a:rPr b="1" sz="1600">
                <a:solidFill>
                  <a:srgbClr val="B8860B"/>
                </a:solidFill>
              </a:rPr>
              <a:t>Decisions I would like your input on today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Q1: Bioinformatics submission as primary venue — agreed?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Q2: Real-dataset validation — necessary before submission, or post-defense addendum?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Q3: ML workshop as secondary venue — worth the effort, or focus on bioinformatics community?</a:t>
            </a:r>
          </a:p>
          <a:p>
            <a:pPr lvl="1"/>
            <a:r>
              <a:rPr b="1" sz="1400">
                <a:solidFill>
                  <a:srgbClr val="B8860B"/>
                </a:solidFill>
              </a:rPr>
              <a:t>Q4: Are there collaborators or datasets you would want included before submission?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RC TTA Benefit Across All Experiments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c_tta_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7715"/>
            <a:ext cx="8229600" cy="462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404040"/>
                </a:solidFill>
              </a:rPr>
              <a:t>NT-v2 models: +0.78–+1.54 pp  |  DNABERT: +0.58 pp  |  Shallow v11: +0.08 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3C78D8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