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</p:sldMasterIdLst>
  <p:notesMasterIdLst>
    <p:notesMasterId r:id="rId5"/>
  </p:notesMasterIdLst>
  <p:sldIdLst>
    <p:sldId id="256" r:id="rId53"/>
    <p:sldId id="257" r:id="rId54"/>
    <p:sldId id="258" r:id="rId55"/>
    <p:sldId id="259" r:id="rId56"/>
    <p:sldId id="260" r:id="rId57"/>
    <p:sldId id="261" r:id="rId58"/>
    <p:sldId id="262" r:id="rId59"/>
    <p:sldId id="263" r:id="rId60"/>
    <p:sldId id="264" r:id="rId61"/>
    <p:sldId id="265" r:id="rId62"/>
    <p:sldId id="266" r:id="rId63"/>
    <p:sldId id="267" r:id="rId64"/>
    <p:sldId id="268" r:id="rId65"/>
    <p:sldId id="269" r:id="rId66"/>
    <p:sldId id="270" r:id="rId67"/>
    <p:sldId id="271" r:id="rId68"/>
    <p:sldId id="272" r:id="rId69"/>
    <p:sldId id="273" r:id="rId70"/>
    <p:sldId id="274" r:id="rId71"/>
    <p:sldId id="275" r:id="rId72"/>
    <p:sldId id="276" r:id="rId73"/>
    <p:sldId id="277" r:id="rId74"/>
    <p:sldId id="278" r:id="rId75"/>
    <p:sldId id="279" r:id="rId76"/>
    <p:sldId id="280" r:id="rId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14.xml"/><Relationship Id="rId47" Type="http://schemas.openxmlformats.org/officeDocument/2006/relationships/slide" Target="slides/slide15.xml"/><Relationship Id="rId48" Type="http://schemas.openxmlformats.org/officeDocument/2006/relationships/slide" Target="slides/slide16.xml"/><Relationship Id="rId49" Type="http://schemas.openxmlformats.org/officeDocument/2006/relationships/slide" Target="slides/slide17.xml"/><Relationship Id="rId50" Type="http://schemas.openxmlformats.org/officeDocument/2006/relationships/slide" Target="slides/slide18.xml"/><Relationship Id="rId51" Type="http://schemas.openxmlformats.org/officeDocument/2006/relationships/slide" Target="slides/slide19.xml"/><Relationship Id="rId52" Type="http://schemas.openxmlformats.org/officeDocument/2006/relationships/slide" Target="slides/slide20.xml"/><Relationship Id="rId53" Type="http://schemas.openxmlformats.org/officeDocument/2006/relationships/slide" Target="slides/slide1.xml"/><Relationship Id="rId54" Type="http://schemas.openxmlformats.org/officeDocument/2006/relationships/slide" Target="slides/slide2.xml"/><Relationship Id="rId55" Type="http://schemas.openxmlformats.org/officeDocument/2006/relationships/slide" Target="slides/slide3.xml"/><Relationship Id="rId56" Type="http://schemas.openxmlformats.org/officeDocument/2006/relationships/slide" Target="slides/slide4.xml"/><Relationship Id="rId57" Type="http://schemas.openxmlformats.org/officeDocument/2006/relationships/slide" Target="slides/slide5.xml"/><Relationship Id="rId58" Type="http://schemas.openxmlformats.org/officeDocument/2006/relationships/slide" Target="slides/slide6.xml"/><Relationship Id="rId59" Type="http://schemas.openxmlformats.org/officeDocument/2006/relationships/slide" Target="slides/slide7.xml"/><Relationship Id="rId60" Type="http://schemas.openxmlformats.org/officeDocument/2006/relationships/slide" Target="slides/slide8.xml"/><Relationship Id="rId61" Type="http://schemas.openxmlformats.org/officeDocument/2006/relationships/slide" Target="slides/slide9.xml"/><Relationship Id="rId62" Type="http://schemas.openxmlformats.org/officeDocument/2006/relationships/slide" Target="slides/slide10.xml"/><Relationship Id="rId63" Type="http://schemas.openxmlformats.org/officeDocument/2006/relationships/slide" Target="slides/slide11.xml"/><Relationship Id="rId64" Type="http://schemas.openxmlformats.org/officeDocument/2006/relationships/slide" Target="slides/slide12.xml"/><Relationship Id="rId65" Type="http://schemas.openxmlformats.org/officeDocument/2006/relationships/slide" Target="slides/slide13.xml"/><Relationship Id="rId66" Type="http://schemas.openxmlformats.org/officeDocument/2006/relationships/slide" Target="slides/slide14.xml"/><Relationship Id="rId67" Type="http://schemas.openxmlformats.org/officeDocument/2006/relationships/slide" Target="slides/slide15.xml"/><Relationship Id="rId68" Type="http://schemas.openxmlformats.org/officeDocument/2006/relationships/slide" Target="slides/slide16.xml"/><Relationship Id="rId69" Type="http://schemas.openxmlformats.org/officeDocument/2006/relationships/slide" Target="slides/slide17.xml"/><Relationship Id="rId70" Type="http://schemas.openxmlformats.org/officeDocument/2006/relationships/slide" Target="slides/slide18.xml"/><Relationship Id="rId71" Type="http://schemas.openxmlformats.org/officeDocument/2006/relationships/slide" Target="slides/slide19.xml"/><Relationship Id="rId72" Type="http://schemas.openxmlformats.org/officeDocument/2006/relationships/slide" Target="slides/slide20.xml"/><Relationship Id="rId73" Type="http://schemas.openxmlformats.org/officeDocument/2006/relationships/slide" Target="slides/slide21.xml"/><Relationship Id="rId74" Type="http://schemas.openxmlformats.org/officeDocument/2006/relationships/slide" Target="slides/slide22.xml"/><Relationship Id="rId75" Type="http://schemas.openxmlformats.org/officeDocument/2006/relationships/slide" Target="slides/slide23.xml"/><Relationship Id="rId76" Type="http://schemas.openxmlformats.org/officeDocument/2006/relationships/slide" Target="slides/slide24.xml"/><Relationship Id="rId77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537" y="-55525"/>
            <a:ext cx="9242701" cy="51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09600" y="552449"/>
            <a:ext cx="7962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alibri"/>
              <a:buNone/>
              <a:defRPr b="1" sz="4800">
                <a:solidFill>
                  <a:srgbClr val="0070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09600" y="2775339"/>
            <a:ext cx="79629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3000"/>
              <a:buNone/>
              <a:defRPr sz="3000">
                <a:solidFill>
                  <a:srgbClr val="0070C0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7084649" y="3485958"/>
            <a:ext cx="2083010" cy="2268423"/>
            <a:chOff x="0" y="0"/>
            <a:chExt cx="5554692" cy="6049127"/>
          </a:xfrm>
        </p:grpSpPr>
        <p:sp>
          <p:nvSpPr>
            <p:cNvPr id="14" name="Google Shape;14;p2"/>
            <p:cNvSpPr/>
            <p:nvPr/>
          </p:nvSpPr>
          <p:spPr>
            <a:xfrm>
              <a:off x="1246152" y="0"/>
              <a:ext cx="3137038" cy="2683910"/>
            </a:xfrm>
            <a:custGeom>
              <a:rect b="b" l="l" r="r" t="t"/>
              <a:pathLst>
                <a:path extrusionOk="0" h="2683910" w="3137038">
                  <a:moveTo>
                    <a:pt x="0" y="0"/>
                  </a:moveTo>
                  <a:lnTo>
                    <a:pt x="3137038" y="0"/>
                  </a:lnTo>
                  <a:lnTo>
                    <a:pt x="3137038" y="2683910"/>
                  </a:lnTo>
                  <a:lnTo>
                    <a:pt x="0" y="2683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 rot="10800000">
              <a:off x="1246152" y="1813058"/>
              <a:ext cx="3137038" cy="2683910"/>
            </a:xfrm>
            <a:custGeom>
              <a:rect b="b" l="l" r="r" t="t"/>
              <a:pathLst>
                <a:path extrusionOk="0" h="2683910" w="3137038">
                  <a:moveTo>
                    <a:pt x="0" y="2683911"/>
                  </a:moveTo>
                  <a:lnTo>
                    <a:pt x="3137038" y="2683911"/>
                  </a:lnTo>
                  <a:lnTo>
                    <a:pt x="3137038" y="0"/>
                  </a:lnTo>
                  <a:lnTo>
                    <a:pt x="0" y="0"/>
                  </a:lnTo>
                  <a:lnTo>
                    <a:pt x="0" y="2683911"/>
                  </a:lnTo>
                  <a:close/>
                </a:path>
              </a:pathLst>
            </a:custGeom>
            <a:blipFill rotWithShape="1">
              <a:blip r:embed="rId3">
                <a:alphaModFix amt="44999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0" y="1599894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0976" y="2345999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851564" y="1599894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3895"/>
            <a:ext cx="9144003" cy="11474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6412" y="0"/>
            <a:ext cx="9190415" cy="15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type="title"/>
          </p:nvPr>
        </p:nvSpPr>
        <p:spPr>
          <a:xfrm>
            <a:off x="228600" y="137319"/>
            <a:ext cx="8763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">
  <p:cSld name="4_Title and Content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9345"/>
            <a:ext cx="9144003" cy="29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">
  <p:cSld name="4_Title and Content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9144003" cy="299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">
  <p:cSld name="4_Title and Content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9144003" cy="23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 2">
  <p:cSld name="4_Title and Content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5400004">
            <a:off x="6042990" y="2046290"/>
            <a:ext cx="4943447" cy="125442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 1">
  <p:cSld name="4_Title and Content_2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429"/>
            <a:ext cx="9144003" cy="81706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1">
  <p:cSld name="4_Title and Conten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75" name="Google Shape;7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061213"/>
            <a:ext cx="3019927" cy="6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8991601" cy="76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37318"/>
            <a:ext cx="86868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228600" y="18859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83" name="Google Shape;83;p11"/>
          <p:cNvSpPr txBox="1"/>
          <p:nvPr>
            <p:ph idx="2" type="title"/>
          </p:nvPr>
        </p:nvSpPr>
        <p:spPr>
          <a:xfrm>
            <a:off x="228600" y="1430850"/>
            <a:ext cx="41415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3" type="body"/>
          </p:nvPr>
        </p:nvSpPr>
        <p:spPr>
          <a:xfrm>
            <a:off x="4574288" y="19008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85" name="Google Shape;85;p11"/>
          <p:cNvSpPr txBox="1"/>
          <p:nvPr>
            <p:ph idx="4" type="title"/>
          </p:nvPr>
        </p:nvSpPr>
        <p:spPr>
          <a:xfrm>
            <a:off x="4574288" y="1445750"/>
            <a:ext cx="41415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687" y="0"/>
            <a:ext cx="3479301" cy="27071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220795" y="5723"/>
            <a:ext cx="2789100" cy="2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3503763" y="1276350"/>
            <a:ext cx="5487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>
            <p:ph idx="1" type="body"/>
          </p:nvPr>
        </p:nvSpPr>
        <p:spPr>
          <a:xfrm>
            <a:off x="3511500" y="1276350"/>
            <a:ext cx="5480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98" name="Google Shape;9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48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98450" y="-10975"/>
            <a:ext cx="3245550" cy="5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>
            <p:ph type="title"/>
          </p:nvPr>
        </p:nvSpPr>
        <p:spPr>
          <a:xfrm>
            <a:off x="228600" y="137319"/>
            <a:ext cx="5670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228600" y="1276350"/>
            <a:ext cx="5670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228600" y="137319"/>
            <a:ext cx="8763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9144003" cy="123676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>
            <p:ph type="title"/>
          </p:nvPr>
        </p:nvSpPr>
        <p:spPr>
          <a:xfrm>
            <a:off x="228600" y="137318"/>
            <a:ext cx="87249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228600" y="13906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123" name="Google Shape;123;p17"/>
          <p:cNvSpPr txBox="1"/>
          <p:nvPr>
            <p:ph idx="2" type="body"/>
          </p:nvPr>
        </p:nvSpPr>
        <p:spPr>
          <a:xfrm>
            <a:off x="4574288" y="14055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87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>
            <p:ph type="title"/>
          </p:nvPr>
        </p:nvSpPr>
        <p:spPr>
          <a:xfrm>
            <a:off x="238525" y="600600"/>
            <a:ext cx="1504200" cy="11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2239588" y="209550"/>
            <a:ext cx="5798100" cy="48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48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228600" y="137319"/>
            <a:ext cx="8686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7866089" y="472043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3" name="Google Shape;143;p21"/>
          <p:cNvSpPr/>
          <p:nvPr/>
        </p:nvSpPr>
        <p:spPr>
          <a:xfrm rot="-1568439">
            <a:off x="3046172" y="3499012"/>
            <a:ext cx="7933211" cy="4339915"/>
          </a:xfrm>
          <a:custGeom>
            <a:rect b="b" l="l" r="r" t="t"/>
            <a:pathLst>
              <a:path extrusionOk="0" h="6491055" w="10511830">
                <a:moveTo>
                  <a:pt x="0" y="0"/>
                </a:moveTo>
                <a:lnTo>
                  <a:pt x="10511829" y="0"/>
                </a:lnTo>
                <a:lnTo>
                  <a:pt x="10511829" y="6491055"/>
                </a:lnTo>
                <a:lnTo>
                  <a:pt x="0" y="6491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 rot="7006851">
            <a:off x="-3366185" y="574240"/>
            <a:ext cx="6240666" cy="2859428"/>
          </a:xfrm>
          <a:custGeom>
            <a:rect b="b" l="l" r="r" t="t"/>
            <a:pathLst>
              <a:path extrusionOk="0" h="6491055" w="10511830">
                <a:moveTo>
                  <a:pt x="0" y="0"/>
                </a:moveTo>
                <a:lnTo>
                  <a:pt x="10511829" y="0"/>
                </a:lnTo>
                <a:lnTo>
                  <a:pt x="10511829" y="6491055"/>
                </a:lnTo>
                <a:lnTo>
                  <a:pt x="0" y="6491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78600">
            <a:off x="-1278925" y="-830825"/>
            <a:ext cx="2488001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172507">
            <a:off x="5365621" y="1354192"/>
            <a:ext cx="2960024" cy="6921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8686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1"/>
            <a:ext cx="8686800" cy="3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866089" y="472043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Weekly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/>
              <a:t>0519   |   楊明儒 (資工所碩二)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Weekly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/>
              <a:t>0519   |   楊明儒 (資工所碩二)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This Week's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1  Genus-level: all 3 tokenization variants evaluated at sample level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genus: Pearson r = 0.9993, BC = 0.028  ← near-perfect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NT-Genus: Pearson r = 0.9932, BC = 0.094  |  MT 6-mer: r = 0.984, BC = 0.167</a:t>
            </a:r>
          </a:p>
          <a:p>
            <a:pPr lvl="1"/>
            <a:r>
              <a:rPr b="1" sz="1400">
                <a:solidFill>
                  <a:srgbClr val="E07000"/>
                </a:solidFill>
              </a:rPr>
              <a:t>Pearson r saturates ≥ 0.98 for ALL; Bray-Curtis is the discriminating metric at genus level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2  Species-level: MT 13-mer crosses the practical utility threshold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flat: Pearson r = 0.466, ROC AUC = 0.966  |  hier: 0.478, 0.967  ← useful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NT-Species flat r = 0.135, hier r = 0.106  |  MT 6-mer: 0.034–0.065  ← all below threshold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3  Hierarchical masking direction is router-dependent (monotonic in router accuracy)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router 87.5% → +0.012 r, +0.0015 ROC, +1.12 pp acc (consistent gain)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NT-Genus router 66% → −0.029 r, +0.002 ROC, −2.0 pp acc (4 of 5 metrics hurt)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MT 6-mer router 48.9% → −0.031 r, −0.023 ROC, −2.8 pp acc (largest degradation)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4  Tokenization effect holds at sample level — not just read accuracy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13-mer BC 0.028 (genus) / 0.369 (species) vs 6-mer 0.167 / 0.686 — systematic gap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5  Next: MT per-genus classifiers (Taiwana2) — expected to improve species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This Week's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1  Genus-level: all 3 tokenization variants evaluated at sample level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genus: Pearson r = 0.9993, BC = 0.028  ← near-perfect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NT-Genus: Pearson r = 0.9932, BC = 0.094  |  MT 6-mer: r = 0.984, BC = 0.167</a:t>
            </a:r>
          </a:p>
          <a:p>
            <a:pPr lvl="1"/>
            <a:r>
              <a:rPr b="1" sz="1400">
                <a:solidFill>
                  <a:srgbClr val="E07000"/>
                </a:solidFill>
              </a:rPr>
              <a:t>Pearson r saturates ≥ 0.98 for ALL; Bray-Curtis is the discriminating metric at genus level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2  Species-level: MT 13-mer crosses the practical utility threshold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flat: Pearson r = 0.466, ROC AUC = 0.966  |  hier: 0.478, 0.967  ← useful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NT-Species flat r = 0.135, hier r = 0.106  |  MT 6-mer: 0.034–0.065  ← all below threshold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3  Hierarchical masking direction is router-dependent (monotonic in router accuracy)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router 87.5% → +0.012 r, +0.0015 ROC, +1.12 pp acc (consistent gain)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NT-Genus router 66% → −0.029 r, +0.002 ROC, −2.0 pp acc (4 of 5 metrics hurt)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MT 6-mer router 48.9% → −0.031 r, −0.023 ROC, −2.8 pp acc (largest degradation)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4  Tokenization effect holds at sample level — not just read accuracy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13-mer BC 0.028 (genus) / 0.369 (species) vs 6-mer 0.167 / 0.686 — systematic gap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5  Next: MT per-genus classifiers (Taiwana2) — expected to improve species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Genus-Level: Tokenization Stratifies Abundance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Genus-Level: Tokenization Stratifies Abundance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Genus Sample-Level Evaluation — 3 Models  (5M pool, 120 genera, 50K reads/sample)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Model               Read Acc   Pearson r    Bray-Curtis   Spearman r   ROC AUC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genus       87.4%     0.9993       0.0279         0.9778       0.900  ✓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NT-Genus        67.1%     0.9932       0.0937         0.9312       0.705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 6-mer genus       48.8%     0.9840       0.1666         0.8537       0.569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Observations: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Pearson r ≥ 0.984 for ALL three — genus-level is forgiving (only 120 classes)</a:t>
            </a:r>
          </a:p>
          <a:p>
            <a:pPr lvl="1"/>
            <a:r>
              <a:rPr b="1" sz="1400">
                <a:solidFill>
                  <a:srgbClr val="E07000"/>
                </a:solidFill>
              </a:rPr>
              <a:t>Bray-Curtis clearly separates: 0.028 → 0.094 → 0.167 — BC is the better discriminator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ROC AUC reflects class-level detection; low for 6-mer (many genera with few predictions)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genus is forgiving: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120 genera: expected abundance per genus ≈ 1/120 = 0.83%  → much more reads per class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Even 50% classifier correctly places most reads near the right genus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Key finding: tokenization still stratifies quality — better tokenizer → lower BC dissimilarity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Genus Sample-Level Evaluation — 3 Models  (5M pool, 120 genera, 50K reads/sample)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Model               Read Acc   Pearson r    Bray-Curtis   Spearman r   ROC AUC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genus       87.4%     0.9993       0.0279         0.9778       0.900  ✓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NT-Genus        67.1%     0.9932       0.0937         0.9312       0.705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 6-mer genus       48.8%     0.9840       0.1666         0.8537       0.569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Observations: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Pearson r ≥ 0.984 for ALL three — genus-level is forgiving (only 120 classes)</a:t>
            </a:r>
          </a:p>
          <a:p>
            <a:pPr lvl="1"/>
            <a:r>
              <a:rPr b="1" sz="1400">
                <a:solidFill>
                  <a:srgbClr val="E07000"/>
                </a:solidFill>
              </a:rPr>
              <a:t>Bray-Curtis clearly separates: 0.028 → 0.094 → 0.167 — BC is the better discriminator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ROC AUC reflects class-level detection; low for 6-mer (many genera with few predictions)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genus is forgiving: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120 genera: expected abundance per genus ≈ 1/120 = 0.83%  → much more reads per class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Even 50% classifier correctly places most reads near the right genus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Key finding: tokenization still stratifies quality — better tokenizer → lower BC dissimilarity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Genus-Level: Effect of Tokenization on Abundance Quality  (5M pool, 120 genera)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genus_comparison_3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All 3 models achieve Pearson r ≥ 0.984; Bray-Curtis clearly separates (0.028 / 0.094 / 0.167)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Genus-Level: Effect of Tokenization on Abundance Quality  (5M pool, 120 genera)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genus_comparison_3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All 3 models achieve Pearson r ≥ 0.984; Bray-Curtis clearly separates (0.028 / 0.094 / 0.167)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Genus: Read Accuracy vs Abundance Quality  (BC degrades, Pearson r saturates)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genus_acc_vs_abu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Pearson r near-saturated across all models; Bray-Curtis is the sensitive metric at genus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Genus: Read Accuracy vs Abundance Quality  (BC degrades, Pearson r saturates)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genus_acc_vs_abu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Pearson r near-saturated across all models; Bray-Curtis is the sensitive metric at genus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Species-Level: MT 13-mer Enables Practical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Species-Level: MT 13-mer Enables Practical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 Sample-Level Evaluation  (1535 species, reads_per_sample=1000)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Model                Read Acc   Pearson r   Bray-Curtis   ROC AUC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NT-Species  flat     17.8%      0.135       0.589         0.794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NT-Species  hier.    15.8%      0.106       0.608         0.796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 6-mer  flat        9.2%      0.065       0.654         0.690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MT  6-mer  hierarchical  6.4%    0.034       0.686         0.667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 flat       49.7%      0.466       0.378         0.966  ✓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 hierarchical 50.9%    0.478       0.369         0.967  ✓ best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All models: 100K independent test set, 1K reads/sample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Key observations: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1. NT-Species 17.8% → Pearson r = 0.135 — noise floor constrains r; 3.4× below MT 13-mer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2. MT 13-mer achieves Pearson r 0.47 and ROC AUC 0.967 — practically useful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3. MT 6-mer: higher read acc (9.2%) than hier. (6.4%) but both unusable (r &lt; 0.07)</a:t>
            </a:r>
          </a:p>
          <a:p>
            <a:pPr lvl="1"/>
            <a:r>
              <a:rPr b="1" sz="1400">
                <a:solidFill>
                  <a:srgbClr val="0070C0"/>
                </a:solidFill>
              </a:rPr>
              <a:t>4. Hier masking effect monotonic in router quality: 87.5%→help, 66%→hurt, 48.9%→hurt 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 Sample-Level Evaluation  (1535 species, reads_per_sample=1000)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Model                Read Acc   Pearson r   Bray-Curtis   ROC AUC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NT-Species  flat     17.8%      0.135       0.589         0.794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NT-Species  hier.    15.8%      0.106       0.608         0.796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 6-mer  flat        9.2%      0.065       0.654         0.690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MT  6-mer  hierarchical  6.4%    0.034       0.686         0.667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 flat       49.7%      0.466       0.378         0.966  ✓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 hierarchical 50.9%    0.478       0.369         0.967  ✓ best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All models: 100K independent test set, 1K reads/sample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Key observations: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1. NT-Species 17.8% → Pearson r = 0.135 — noise floor constrains r; 3.4× below MT 13-mer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2. MT 13-mer achieves Pearson r 0.47 and ROC AUC 0.967 — practically useful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3. MT 6-mer: higher read acc (9.2%) than hier. (6.4%) but both unusable (r &lt; 0.07)</a:t>
            </a:r>
          </a:p>
          <a:p>
            <a:pPr lvl="1"/>
            <a:r>
              <a:rPr b="1" sz="1400">
                <a:solidFill>
                  <a:srgbClr val="0070C0"/>
                </a:solidFill>
              </a:rPr>
              <a:t>4. Hier masking effect monotonic in router quality: 87.5%→help, 66%→hurt, 48.9%→hurt 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Species-Level Metrics: All 4 Dimensions  (100K test, 1535 species)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pecies_summary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Read accuracy, Pearson r, 1 − Bray-Curtis, ROC AUC — all favor MT 13-mer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Species-Level Metrics: All 4 Dimensions  (100K test, 1535 species)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pecies_summary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Read accuracy, Pearson r, 1 − Bray-Curtis, ROC AUC — all favor MT 13-mer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Abundance Correlation and Dissimilarity Across All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abundanc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All models evaluated on 100K independent test set  (1535 species, reads_per_sample=1K)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Abundance Correlation and Dissimilarity Across All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abundanc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All models evaluated on 100K independent test set  (1535 species, reads_per_sample=1K)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 Detection Performance: ROC AUC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roc_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MT 13-mer 0.966–0.967  vs  NT-Species flat 0.794 / hier 0.796 (only metric not hurt)  vs  MT 6-mer 0.667–0.690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 Detection Performance: ROC AUC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roc_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MT 13-mer 0.966–0.967  vs  NT-Species flat 0.794 / hier 0.796 (only metric not hurt)  vs  MT 6-mer 0.667–0.690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 Detection: Sensitivity at Fixed Specificity  (ROC Operating Points)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roc_operating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At 90% specificity: MT 13-mer hier. sens=92.5%  vs  NT-Species sens=55.8%  vs  MT 6-mer flat sens=41.2%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 Detection: Sensitivity at Fixed Specificity  (ROC Operating Points)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roc_operating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At 90% specificity: MT 13-mer hier. sens=92.5%  vs  NT-Species sens=55.8%  vs  MT 6-mer flat sens=41.2%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 Detection: Sensitivity &amp; Specificity vs Read Count Threshold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detection_threshol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MT 13-mer flat: sens=78.4% / spec=99.6% at ≥5 reads  |  MT 6-mer: 20.3% / 98.8% — poor recall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Species Detection: Sensitivity &amp; Specificity vs Read Count Threshold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detection_threshol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MT 13-mer flat: sens=78.4% / spec=99.6% at ≥5 reads  |  MT 6-mer: 20.3% / 98.8% — poor recall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MT 13-mer: Flat vs Hierarchical — Abundance Threshold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mt13_flat_vs_hier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Hierarchical consistently better at all thresholds — gains most at ≥1% abundance (sens 56.7% → 58.4%)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MT 13-mer: Flat vs Hierarchical — Abundance Threshold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mt13_flat_vs_hier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Hierarchical consistently better at all thresholds — gains most at ≥1% abundance (sens 56.7% → 58.4%)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Why Read Accuracy → Abundance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Why Read Accuracy → Abundance 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Connecting Read Accuracy to Sample-Level Utility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Rule of thumb from the data: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&lt; ~20% read acc  →  Pearson r low (noise floor limited)  (NT-Species: 17.8% → 0.135, 6-mer: 9.2% → 0.065)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~50% read acc   →  Pearson r ≈ 0.47  (MT 13-mer flat: 49.7% → 0.466)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~67% read acc   →  Pearson r ≈ 0.99  (NT-v2 genus: 67.1% → 0.993) — but only 120 classes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The non-linear jump (≈ 0.466 at 50%) makes sense: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1535 species: true abundance per species = 1/1535 ≈ 0.065%  → each misclassification heavily dilutes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 50% classifier correctly assigns half the reads → abundance vector is partially recoverable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 9% classifier assigns 91% of reads to wrong species → abundance vector is dominated by noise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Practical threshold for metagenomics: ~40–50% top-1 read accuracy needed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NT-v2 architecture cannot reach this with 6-mer tokenization (ceiling: 15.9% NT-Species)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already crosses it (49.7%); overlapping tokenization is the key design choice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Conclusion: tokenization design is not just a classification metric — it determines practical utility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Connecting Read Accuracy to Sample-Level Utility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Rule of thumb from the data: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&lt; ~20% read acc  →  Pearson r low (noise floor limited)  (NT-Species: 17.8% → 0.135, 6-mer: 9.2% → 0.065)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~50% read acc   →  Pearson r ≈ 0.47  (MT 13-mer flat: 49.7% → 0.466)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~67% read acc   →  Pearson r ≈ 0.99  (NT-v2 genus: 67.1% → 0.993) — but only 120 classes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The non-linear jump (≈ 0.466 at 50%) makes sense: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1535 species: true abundance per species = 1/1535 ≈ 0.065%  → each misclassification heavily dilutes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 50% classifier correctly assigns half the reads → abundance vector is partially recoverable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 9% classifier assigns 91% of reads to wrong species → abundance vector is dominated by noise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Practical threshold for metagenomics: ~40–50% top-1 read accuracy needed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NT-v2 architecture cannot reach this with 6-mer tokenization (ceiling: 15.9% NT-Species)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already crosses it (49.7%); overlapping tokenization is the key design choice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Conclusion: tokenization design is not just a classification metric — it determines practical utility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Remaining Experiments &amp; Timeline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On TWCC (done / running):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✓  NT-Genus sample-level evaluation  (Pearson r = 0.993)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✓  NT-Species flat sample-level evaluation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✓  MT 13-mer / 6-mer species (flat + hierarchical) sample-level evaluation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On Taiwana2 (in progress):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Step 2: Inspect MT 6-mer training config for per-genus training command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Step 3: Split 45M reads by genus (split_by_genus_mt.py)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Step 4: Train 81 MT 6-mer per-genus species classifiers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Step 5: Extract per-genus predictions on reads_remapped.fa → scp to TWCC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After Taiwana2 per-genus results arrive: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TWCC: run per-genus ensemble + sample-level eval (Exp B/C/F)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Expected: oracle per-genus routing may unlock &gt;50% species detection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After all experiments complete: §4.13 sample-level section in thesis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Write-up: abundance estimation, ROC AUC, detection thresholds, practical utility section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Remaining Experiments &amp; Timeline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On TWCC (done / running):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✓  NT-Genus sample-level evaluation  (Pearson r = 0.993)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✓  NT-Species flat sample-level evaluation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✓  MT 13-mer / 6-mer species (flat + hierarchical) sample-level evaluation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On Taiwana2 (in progress):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Step 2: Inspect MT 6-mer training config for per-genus training command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Step 3: Split 45M reads by genus (split_by_genus_mt.py)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Step 4: Train 81 MT 6-mer per-genus species classifiers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Step 5: Extract per-genus predictions on reads_remapped.fa → scp to TWCC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After Taiwana2 per-genus results arrive: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TWCC: run per-genus ensemble + sample-level eval (Exp B/C/F)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Expected: oracle per-genus routing may unlock &gt;50% species detection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After all experiments complete: §4.13 sample-level section in thesis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Write-up: abundance estimation, ROC AUC, detection thresholds, practical utility section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Complete Results — Updated Numeric Reference  (as of 2026-05-17)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Genus (120 classes, RC TTA)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NT-Genus (50M) → 67.07%  |  NT-Genus-5M (5M) → 63.05%  |  Shallow-Genus → 53.88%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Tokenization ablation (MT, 50M, genus)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13-mer s=1 → 87.42%  |  12-mer s=1 → 78.83%  |  6-mer s=1 → 48.87%  |  6-mer s=6 → 38.47%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Species (1535 classes, 100K test set)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flat → 49.74%  |  MT 13-mer hierarchical → 50.86%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NT-Species flat → 15.51%  |  MT 6-mer flat → 9.22%  |  MT 6-mer hier. → 6.41%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Sample-level — genus (5M pool, 120 genera)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13-mer: r = 0.9993, BC = 0.028  |  NT-Genus: r = 0.9932, BC = 0.094  |  MT 6-mer: r = 0.984, BC = 0.167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Sample-level — species (100K pool, 1535 classes)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flat: Pearson r = 0.466, BC = 0.378, ROC AUC = 0.966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hier: Pearson r = 0.478, BC = 0.369, ROC AUC = 0.967  ← best species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NT-Species flat: Pearson r = 0.135, BC = 0.589, ROC AUC = 0.794  (100K test set)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MT 6-mer flat/hier: Pearson r = 0.034–0.065  ← unusable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Hierarchical (subgenus routing): 13.2–13.6%  ← FAILED (sil. = 0.03)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Complete Results — Updated Numeric Reference  (as of 2026-05-17)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Genus (120 classes, RC TTA)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NT-Genus (50M) → 67.07%  |  NT-Genus-5M (5M) → 63.05%  |  Shallow-Genus → 53.88%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Tokenization ablation (MT, 50M, genus)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13-mer s=1 → 87.42%  |  12-mer s=1 → 78.83%  |  6-mer s=1 → 48.87%  |  6-mer s=6 → 38.47%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Species (1535 classes, 100K test set)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flat → 49.74%  |  MT 13-mer hierarchical → 50.86%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NT-Species flat → 15.51%  |  MT 6-mer flat → 9.22%  |  MT 6-mer hier. → 6.41%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Sample-level — genus (5M pool, 120 genera)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13-mer: r = 0.9993, BC = 0.028  |  NT-Genus: r = 0.9932, BC = 0.094  |  MT 6-mer: r = 0.984, BC = 0.167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Sample-level — species (100K pool, 1535 classes)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flat: Pearson r = 0.466, BC = 0.378, ROC AUC = 0.966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hier: Pearson r = 0.478, BC = 0.369, ROC AUC = 0.967  ← best species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NT-Species flat: Pearson r = 0.135, BC = 0.589, ROC AUC = 0.794  (100K test set)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MT 6-mer flat/hier: Pearson r = 0.034–0.065  ← unusable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Hierarchical (subgenus routing): 13.2–13.6%  ← FAILED (sil. = 0.03)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Backup / Reference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Backup / Reference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Sample-Level Evaluation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Two sampling strategies (evaluate_sample.py):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1. Random partition samples: non-overlapping subsets of test pool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2. Sparse community samples: replace=False from present-genera pool  (simulates low-diversity env)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Abundance vector: predicted class count histogram / reads_per_sample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Metrics per sample, then mean ± std across 100 samples: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Pearson r: linear correlation between true and predicted abundance vectors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Bray-Curtis dissimilarity: ecological β-diversity metric (0=identical, 1=no overlap)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ROC AUC: binary detection at species level, threshold on predicted abundance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Parameters (species, 100K pool):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reads_per_sample=1000, n_partition_samples=100, n_sparse_samples=200, genera_present=50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Constrained by pool size: 100K reads / 1535 species ≈ 65 reads/species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Parameters (genus, 5M pool):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reads_per_sample=50000, n_partition_samples=100, n_sparse_samples=200, genera_present=60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Caveat: genus/species metrics are NOT directly comparable (different pool sizes &amp; reads_per_sample)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Data Scaling — Genus RC TTA Accuracy vs Training Volume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500K→5M: +7.76 pp  |  5M→50M: +4.02 pp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NT-Genus — ROC Detection Curve  (species presence/absence at genus level)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roc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AUC = 0.705 — low because all 120 genera present in every sample (detection trivially high)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MT 13-mer Flat — ROC Detection Curve  (100K test, 1535 species)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roc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AUC = 0.966 — high discriminative power for species presence/absence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MT 13-mer Hierarchical — Abundance Scatter  (100K test, 1535 species)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abundanc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04040"/>
                </a:solidFill>
              </a:rPr>
              <a:t>Pearson r = 0.478 — predicted abundance correlates with true abundance at species level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3C78D8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