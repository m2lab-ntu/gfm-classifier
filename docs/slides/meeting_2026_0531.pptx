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10972800" cy="91440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l"/>
            <a:r>
              <a:rPr sz="3400" b="1">
                <a:solidFill>
                  <a:srgbClr val="0A2540"/>
                </a:solidFill>
              </a:rPr>
              <a:t>Weekly Progress · Updates Since 5/28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0"/>
            <a:ext cx="10972800" cy="45720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l"/>
            <a:r>
              <a:rPr sz="2000" b="0">
                <a:solidFill>
                  <a:srgbClr val="1E6091"/>
                </a:solidFill>
              </a:rPr>
              <a:t>MT alignment fix · in-DB fair comparison · genus-level inversion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794760"/>
            <a:ext cx="3657600" cy="36576"/>
          </a:xfrm>
          <a:prstGeom prst="rect">
            <a:avLst/>
          </a:prstGeom>
          <a:solidFill>
            <a:srgbClr val="1E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114800"/>
            <a:ext cx="10972800" cy="45720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l"/>
            <a:r>
              <a:rPr sz="1600" b="0">
                <a:solidFill>
                  <a:srgbClr val="5A6068"/>
                </a:solidFill>
              </a:rPr>
              <a:t>楊明儒 · 2026-05-31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029200"/>
            <a:ext cx="10972800" cy="137160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1E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300" b="0">
                <a:solidFill>
                  <a:srgbClr val="0A2540"/>
                </a:solidFill>
              </a:rPr>
              <a:t>Last advisor meeting: 5/28</a:t>
            </a:r>
          </a:p>
          <a:p>
            <a:pPr algn="l"/>
            <a:r>
              <a:rPr sz="1300" b="0">
                <a:solidFill>
                  <a:srgbClr val="0A2540"/>
                </a:solidFill>
              </a:rPr>
              <a:t>Open decisions then: 6 items (DNABERT, MT alignment, 258M, speed benchmark, ...)</a:t>
            </a:r>
          </a:p>
          <a:p>
            <a:pPr algn="l"/>
            <a:r>
              <a:rPr sz="1300" b="0">
                <a:solidFill>
                  <a:srgbClr val="0A2540"/>
                </a:solidFill>
              </a:rPr>
              <a:t>Today's deck: status of those 6, plus one major unexpected finding.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A2540"/>
                </a:solidFill>
              </a:rPr>
              <a:t>Progress Timeline · 5/28 → 5/30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068"/>
                </a:solidFill>
              </a:rPr>
              <a:t>2 / 10</a:t>
            </a:r>
          </a:p>
        </p:txBody>
      </p:sp>
      <p:pic>
        <p:nvPicPr>
          <p:cNvPr id="6" name="Picture 5" descr="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47120" cy="350886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4114800"/>
            <a:ext cx="11247120" cy="228600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300" b="0">
                <a:solidFill>
                  <a:srgbClr val="0A2540"/>
                </a:solidFill>
              </a:rPr>
              <a:t>Three things accomplished:</a:t>
            </a:r>
          </a:p>
          <a:p>
            <a:pPr algn="l"/>
            <a:r>
              <a:rPr sz="1300" b="0">
                <a:solidFill>
                  <a:srgbClr val="0A2540"/>
                </a:solidFill>
              </a:rPr>
              <a:t>1.  MT predictions order-aligned via Taiwana-2 (5/6 success; MT 13-mer hier checkpoint corrupted)</a:t>
            </a:r>
          </a:p>
          <a:p>
            <a:pPr algn="l"/>
            <a:r>
              <a:rPr sz="1300" b="0">
                <a:solidFill>
                  <a:srgbClr val="0A2540"/>
                </a:solidFill>
              </a:rPr>
              <a:t>2.  In-DB fair-comparison Table 4.30 added to thesis (species + genus, both levels)</a:t>
            </a:r>
          </a:p>
          <a:p>
            <a:pPr algn="l"/>
            <a:r>
              <a:rPr sz="1300" b="0">
                <a:solidFill>
                  <a:srgbClr val="0A2540"/>
                </a:solidFill>
              </a:rPr>
              <a:t>3.  Unexpected finding: at genus level, MT 13-mer surpasses Kraken2 by +17 pp</a:t>
            </a:r>
          </a:p>
          <a:p>
            <a:pPr algn="l"/>
            <a:r>
              <a:rPr sz="1300" b="0">
                <a:solidFill>
                  <a:srgbClr val="0A2540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0A2540"/>
                </a:solidFill>
              </a:rPr>
              <a:t>One blocker:  TWCC iService wallet exhausted on 5/30 (sbatch returns -802.521 credits)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A2540"/>
                </a:solidFill>
              </a:rPr>
              <a:t>MT Predictions · Read-Order Alignment Fix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068"/>
                </a:solidFill>
              </a:rPr>
              <a:t>3 / 10</a:t>
            </a:r>
          </a:p>
        </p:txBody>
      </p:sp>
      <p:pic>
        <p:nvPicPr>
          <p:cNvPr id="6" name="Picture 5" descr="mt_align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12880" cy="419927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4572000"/>
            <a:ext cx="11247120" cy="128016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200" b="0">
                <a:solidFill>
                  <a:srgbClr val="0A2540"/>
                </a:solidFill>
              </a:rPr>
              <a:t>Why old numbers were wrong  ·  Previous MT predictions came from MT's val_dir (multi-file FASTA, sorted by filename). The read order did NOT match TWCC's canonical reads_100K.fa. Re-ran on Taiwana-2 with reads in single-file order → labels now 1:1-aligned to NT-v2 / Kraken2 references.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852160"/>
            <a:ext cx="11277295" cy="6400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All MT in-DB metrics now correctly computed on the canonical 100K test 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A2540"/>
                </a:solidFill>
              </a:rPr>
              <a:t>New Finding · Species/Genus Performance Inversion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068"/>
                </a:solidFill>
              </a:rPr>
              <a:t>4 / 10</a:t>
            </a:r>
          </a:p>
        </p:txBody>
      </p:sp>
      <p:pic>
        <p:nvPicPr>
          <p:cNvPr id="6" name="Picture 5" descr="inver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11795760" cy="41433045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5852160"/>
            <a:ext cx="11277295" cy="64008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Same Kraken2 DB, same test set, same protocol — Kraken2 wins species; MT 13-mer wins genus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A2540"/>
                </a:solidFill>
              </a:rPr>
              <a:t>Why the Inversion · Commit-Rate × Task Cardinality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068"/>
                </a:solidFill>
              </a:rPr>
              <a:t>5 / 10</a:t>
            </a:r>
          </a:p>
        </p:txBody>
      </p:sp>
      <p:pic>
        <p:nvPicPr>
          <p:cNvPr id="6" name="Picture 5" descr="inversion_explai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612880" cy="444776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5120640"/>
            <a:ext cx="11247120" cy="91440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150" b="0">
                <a:solidFill>
                  <a:srgbClr val="0A2540"/>
                </a:solidFill>
              </a:rPr>
              <a:t>Theoretical implication  ·  Kraken2's 30% abstention is a precision-vs-recall trade-off. At high task granularity (1,535 species), the precision wins. At low granularity (120 genera), the recall loss dominates. This adds nuance to the thesis's complementary positioning: they are not just "in-DB vs OOD" — they trade off across task cardinality.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A2540"/>
                </a:solidFill>
              </a:rPr>
              <a:t>Thesis Updates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068"/>
                </a:solidFill>
              </a:rPr>
              <a:t>6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5486400" cy="45720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l"/>
            <a:r>
              <a:rPr sz="1600" b="1">
                <a:solidFill>
                  <a:srgbClr val="1E6091"/>
                </a:solidFill>
              </a:rPr>
              <a:t>What changed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486400" cy="475488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1E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100" b="0">
                <a:solidFill>
                  <a:srgbClr val="0A2540"/>
                </a:solidFill>
              </a:rPr>
              <a:t>• Table 4.29 MT rows updated to aligned values</a:t>
            </a:r>
          </a:p>
          <a:p>
            <a:pPr algn="l"/>
            <a:r>
              <a:rPr sz="1100" b="0">
                <a:solidFill>
                  <a:srgbClr val="0A2540"/>
                </a:solidFill>
              </a:rPr>
              <a:t>    — MT 13-mer flat: 49.7% → 53.7% / r 0.46 → 0.50</a:t>
            </a:r>
          </a:p>
          <a:p>
            <a:pPr algn="l"/>
            <a:r>
              <a:rPr sz="1100" b="0">
                <a:solidFill>
                  <a:srgbClr val="0A2540"/>
                </a:solidFill>
              </a:rPr>
              <a:t>    — MT 6-mer flat/hier: minor (9.0% / 6.4%)</a:t>
            </a:r>
          </a:p>
          <a:p>
            <a:pPr algn="l"/>
            <a:r>
              <a:rPr sz="1100" b="0">
                <a:solidFill>
                  <a:srgbClr val="0A2540"/>
                </a:solidFill>
              </a:rPr>
              <a:t>    — MT 13-mer hier: N/A (checkpoint corrupted)</a:t>
            </a:r>
          </a:p>
          <a:p>
            <a:pPr algn="l"/>
            <a:r>
              <a:rPr sz="1100" b="0">
                <a:solidFill>
                  <a:srgbClr val="0A2540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0A2540"/>
                </a:solidFill>
              </a:rPr>
              <a:t>• Hierarchical-masking paragraph: removed broken MT 13-mer hier reference;</a:t>
            </a:r>
          </a:p>
          <a:p>
            <a:pPr algn="l"/>
            <a:r>
              <a:rPr sz="1100" b="0">
                <a:solidFill>
                  <a:srgbClr val="0A2540"/>
                </a:solidFill>
              </a:rPr>
              <a:t>    revised to 2 routers (NT-Genus 66%, MT 6-mer 49%) + reference to read-level 3 points</a:t>
            </a:r>
          </a:p>
          <a:p>
            <a:pPr algn="l"/>
            <a:r>
              <a:rPr sz="1100" b="0">
                <a:solidFill>
                  <a:srgbClr val="0A2540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0A2540"/>
                </a:solidFill>
              </a:rPr>
              <a:t>• OOD framing fixed: was "neural retains OOD signal";</a:t>
            </a:r>
          </a:p>
          <a:p>
            <a:pPr algn="l"/>
            <a:r>
              <a:rPr sz="1100" b="0">
                <a:solidFill>
                  <a:srgbClr val="0A2540"/>
                </a:solidFill>
              </a:rPr>
              <a:t>    now "deployment coverage asymmetry" (the 219 species are in-distribution)</a:t>
            </a:r>
          </a:p>
          <a:p>
            <a:pPr algn="l"/>
            <a:r>
              <a:rPr sz="1100" b="0">
                <a:solidFill>
                  <a:srgbClr val="0A2540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0A2540"/>
                </a:solidFill>
              </a:rPr>
              <a:t>• Thesis page count: 137 → 139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914400"/>
            <a:ext cx="5486400" cy="45720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l"/>
            <a:r>
              <a:rPr sz="1600" b="1">
                <a:solidFill>
                  <a:srgbClr val="2E7D32"/>
                </a:solidFill>
              </a:rPr>
              <a:t>What was added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486400" cy="475488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100" b="0">
                <a:solidFill>
                  <a:srgbClr val="0A2540"/>
                </a:solidFill>
              </a:rPr>
              <a:t>• New Table 4.30: Fair-restricted comparison</a:t>
            </a:r>
          </a:p>
          <a:p>
            <a:pPr algn="l"/>
            <a:r>
              <a:rPr sz="1100" b="0">
                <a:solidFill>
                  <a:srgbClr val="0A2540"/>
                </a:solidFill>
              </a:rPr>
              <a:t>    on in-DB 85,819 reads (species + genus panels)</a:t>
            </a:r>
          </a:p>
          <a:p>
            <a:pPr algn="l"/>
            <a:r>
              <a:rPr sz="1100" b="0">
                <a:solidFill>
                  <a:srgbClr val="0A2540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0A2540"/>
                </a:solidFill>
              </a:rPr>
              <a:t>• New paragraph: "Coverage-restricted fair comparison"</a:t>
            </a:r>
          </a:p>
          <a:p>
            <a:pPr algn="l"/>
            <a:r>
              <a:rPr sz="1100" b="0">
                <a:solidFill>
                  <a:srgbClr val="0A2540"/>
                </a:solidFill>
              </a:rPr>
              <a:t>    explains why restrict to 85,819 reads + interpretation</a:t>
            </a:r>
          </a:p>
          <a:p>
            <a:pPr algn="l"/>
            <a:r>
              <a:rPr sz="1100" b="0">
                <a:solidFill>
                  <a:srgbClr val="0A2540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0A2540"/>
                </a:solidFill>
              </a:rPr>
              <a:t>• New paragraph: "Sharp inversion between species</a:t>
            </a:r>
          </a:p>
          <a:p>
            <a:pPr algn="l"/>
            <a:r>
              <a:rPr sz="1100" b="0">
                <a:solidFill>
                  <a:srgbClr val="0A2540"/>
                </a:solidFill>
              </a:rPr>
              <a:t>    and genus levels" — describes the new finding</a:t>
            </a:r>
          </a:p>
          <a:p>
            <a:pPr algn="l"/>
            <a:r>
              <a:rPr sz="1100" b="0">
                <a:solidFill>
                  <a:srgbClr val="0A2540"/>
                </a:solidFill>
              </a:rPr>
              <a:t>    with commit-rate × cardinality mechanism</a:t>
            </a:r>
          </a:p>
          <a:p>
            <a:pPr algn="l"/>
            <a:r>
              <a:rPr sz="1100" b="0">
                <a:solidFill>
                  <a:srgbClr val="0A2540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0A2540"/>
                </a:solidFill>
              </a:rPr>
              <a:t>• New paragraph: "Kraken2 dependence on database</a:t>
            </a:r>
          </a:p>
          <a:p>
            <a:pPr algn="l"/>
            <a:r>
              <a:rPr sz="1100" b="0">
                <a:solidFill>
                  <a:srgbClr val="0A2540"/>
                </a:solidFill>
              </a:rPr>
              <a:t>    coverage" — corrected deployment vs OOD framing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A2540"/>
                </a:solidFill>
              </a:rPr>
              <a:t>Blocker · TWCC Budget Exhausted on 5/30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068"/>
                </a:solidFill>
              </a:rPr>
              <a:t>7 / 10</a:t>
            </a:r>
          </a:p>
        </p:txBody>
      </p:sp>
      <p:pic>
        <p:nvPicPr>
          <p:cNvPr id="6" name="Picture 5" descr="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12880" cy="444776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5852160"/>
            <a:ext cx="11277295" cy="64008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400" b="1">
                <a:solidFill>
                  <a:srgbClr val="FFFFFF"/>
                </a:solidFill>
              </a:rPr>
              <a:t>Need decision: budget top-up, or accept partial DNABERT-2 + defer remaining tasks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A2540"/>
                </a:solidFill>
              </a:rPr>
              <a:t>6 Open Decisions Recap (from 5/28)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068"/>
                </a:solidFill>
              </a:rPr>
              <a:t>8 / 10</a:t>
            </a:r>
          </a:p>
        </p:txBody>
      </p:sp>
      <p:pic>
        <p:nvPicPr>
          <p:cNvPr id="6" name="Picture 5" descr="deci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612880" cy="53248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A2540"/>
                </a:solidFill>
              </a:rPr>
              <a:t>Recommended Priorities (next 2 weeks)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068"/>
                </a:solidFill>
              </a:rPr>
              <a:t>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l"/>
            <a:r>
              <a:rPr sz="1600" b="1">
                <a:solidFill>
                  <a:srgbClr val="2E7D32"/>
                </a:solidFill>
              </a:rPr>
              <a:t>Immediate (no TWCC GPU needed)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146304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200" b="0">
                <a:solidFill>
                  <a:srgbClr val="0A2540"/>
                </a:solidFill>
              </a:rPr>
              <a:t>• Receive Per-genus 13-mer (Exp F) results from Taiwana-2 → integrate into thesis Table 4.hier-prelim</a:t>
            </a:r>
          </a:p>
          <a:p>
            <a:pPr algn="l"/>
            <a:r>
              <a:rPr sz="1200" b="0">
                <a:solidFill>
                  <a:srgbClr val="0A2540"/>
                </a:solidFill>
              </a:rPr>
              <a:t>• MT 13-mer hier retraining on Taiwana-2 (decide Q3)</a:t>
            </a:r>
          </a:p>
          <a:p>
            <a:pPr algn="l"/>
            <a:r>
              <a:rPr sz="1200" b="0">
                <a:solidFill>
                  <a:srgbClr val="0A2540"/>
                </a:solidFill>
              </a:rPr>
              <a:t>• Thesis figure regeneration with new aligned MT numbers</a:t>
            </a:r>
          </a:p>
          <a:p>
            <a:pPr algn="l"/>
            <a:r>
              <a:rPr sz="1200" b="0">
                <a:solidFill>
                  <a:srgbClr val="0A2540"/>
                </a:solidFill>
              </a:rPr>
              <a:t>• Thesis proofreading + format consistency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11247120" cy="45720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l"/>
            <a:r>
              <a:rPr sz="1600" b="1">
                <a:solidFill>
                  <a:srgbClr val="B8860B"/>
                </a:solidFill>
              </a:rPr>
              <a:t>Needs TWCC budget top-up (~45 GPU-hr total)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474720"/>
            <a:ext cx="11247120" cy="146304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200" b="0">
                <a:solidFill>
                  <a:srgbClr val="0A2540"/>
                </a:solidFill>
              </a:rPr>
              <a:t>• DNABERT-2 50M resubmit (36 hr) — complete backbone scaling table</a:t>
            </a:r>
          </a:p>
          <a:p>
            <a:pPr algn="l"/>
            <a:r>
              <a:rPr sz="1200" b="0">
                <a:solidFill>
                  <a:srgbClr val="0A2540"/>
                </a:solidFill>
              </a:rPr>
              <a:t>• MT models migration + speed/memory unified benchmark (3 hr) — must-do, advisor ask</a:t>
            </a:r>
          </a:p>
          <a:p>
            <a:pPr algn="l"/>
            <a:r>
              <a:rPr sz="1200" b="0">
                <a:solidFill>
                  <a:srgbClr val="0A2540"/>
                </a:solidFill>
              </a:rPr>
              <a:t>• HMP mock community real-dataset inference (3 hr) — post-defense, paper submission prep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0"/>
            <a:ext cx="11247120" cy="45720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l"/>
            <a:r>
              <a:rPr sz="1600" b="1">
                <a:solidFill>
                  <a:srgbClr val="C62828"/>
                </a:solidFill>
              </a:rPr>
              <a:t>Recommended NOT to do (explicit advisor decision needed if disagree)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577840"/>
            <a:ext cx="11247120" cy="1005840"/>
          </a:xfrm>
          <a:prstGeom prst="roundRect">
            <a:avLst/>
          </a:prstGeom>
          <a:solidFill>
            <a:srgbClr val="FFEBEE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200" b="0">
                <a:solidFill>
                  <a:srgbClr val="0A2540"/>
                </a:solidFill>
              </a:rPr>
              <a:t>• DNABERT-1 50M continue: ~300 GPU-hr, 13 days — 5M evidence + training cost argument is sufficient</a:t>
            </a:r>
          </a:p>
          <a:p>
            <a:pPr algn="l"/>
            <a:r>
              <a:rPr sz="1200" b="0">
                <a:solidFill>
                  <a:srgbClr val="0A2540"/>
                </a:solidFill>
              </a:rPr>
              <a:t>• 258M training: ~290 GPU-hr, +4.2 pp predicted (log-fit), does not cross tokenisation gap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A2540"/>
                </a:solidFill>
              </a:rPr>
              <a:t>Asks for Today's Meeting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068"/>
                </a:solidFill>
              </a:rPr>
              <a:t>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54864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l"/>
            <a:r>
              <a:rPr sz="1800" b="1">
                <a:solidFill>
                  <a:srgbClr val="0A2540"/>
                </a:solidFill>
              </a:rPr>
              <a:t>Three concrete decisions I need from you today: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640080" cy="6400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691640"/>
            <a:ext cx="3200400" cy="54864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</a:rPr>
              <a:t>TWCC budget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45920"/>
            <a:ext cx="7315200" cy="128016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150" b="0">
                <a:solidFill>
                  <a:srgbClr val="0A2540"/>
                </a:solidFill>
              </a:rPr>
              <a:t>Top up so I can resubmit DNABERT-2 (36 hr) + run speed benchmark (3 hr)?  Or defer both?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00400"/>
            <a:ext cx="640080" cy="64008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246120"/>
            <a:ext cx="3200400" cy="54864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l"/>
            <a:r>
              <a:rPr sz="1400" b="1">
                <a:solidFill>
                  <a:srgbClr val="C62828"/>
                </a:solidFill>
              </a:rPr>
              <a:t>DNABERT-1 50M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3200400"/>
            <a:ext cx="7315200" cy="128016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150" b="0">
                <a:solidFill>
                  <a:srgbClr val="0A2540"/>
                </a:solidFill>
              </a:rPr>
              <a:t>Confirm cancel.  Use the 5M data + per-epoch cost (11.7 hr vs NT-v2's 2.8 hr) as deployment-limitation argument?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754880"/>
            <a:ext cx="640080" cy="64008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800600"/>
            <a:ext cx="3200400" cy="54864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l"/>
            <a:r>
              <a:rPr sz="1400" b="1">
                <a:solidFill>
                  <a:srgbClr val="E65100"/>
                </a:solidFill>
              </a:rPr>
              <a:t>MT 13-mer hier retraining (Taiwana-2)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4754880"/>
            <a:ext cx="7315200" cy="128016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150" b="0">
                <a:solidFill>
                  <a:srgbClr val="0A2540"/>
                </a:solidFill>
              </a:rPr>
              <a:t>Worth ~1-2 days V100 to fill Table 4.30 missing row?  Or accept N/A given read-level 3-point story is intact?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