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</a:rPr>
              <a:t>Genomic Foundation Models for</a:t>
            </a:r>
          </a:p>
          <a:p>
            <a:pPr algn="l"/>
            <a:r>
              <a:rPr sz="3600" b="1">
                <a:solidFill>
                  <a:srgbClr val="0A2540"/>
                </a:solidFill>
              </a:rPr>
              <a:t>Metagenomic Read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2200" b="0">
                <a:solidFill>
                  <a:srgbClr val="1E6091"/>
                </a:solidFill>
              </a:rPr>
              <a:t>Thesis review &amp; publication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26280"/>
            <a:ext cx="3657600" cy="36576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0">
                <a:solidFill>
                  <a:srgbClr val="5A6068"/>
                </a:solidFill>
              </a:rPr>
              <a:t>楊明儒 (Ming-Ju Yang) · 國立臺灣大學 資工所碩二</a:t>
            </a:r>
          </a:p>
          <a:p>
            <a:pPr algn="l"/>
            <a:r>
              <a:rPr sz="1600" b="0">
                <a:solidFill>
                  <a:srgbClr val="5A6068"/>
                </a:solidFill>
              </a:rPr>
              <a:t>2026-05-26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200" b="0">
                <a:solidFill>
                  <a:srgbClr val="5A6068"/>
                </a:solidFill>
              </a:rPr>
              <a:t>Section 1: The Research Question  ·  Section 2: Six Key Findings</a:t>
            </a:r>
          </a:p>
          <a:p>
            <a:pPr algn="l"/>
            <a:r>
              <a:rPr sz="1200" b="0">
                <a:solidFill>
                  <a:srgbClr val="5A6068"/>
                </a:solidFill>
              </a:rPr>
              <a:t>Section 3: Synthesis  ·  Section 4: Publication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The Problem  ·  Why Metagenomic Read Classification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2 / 16</a:t>
            </a:r>
          </a:p>
        </p:txBody>
      </p:sp>
      <p:pic>
        <p:nvPicPr>
          <p:cNvPr id="6" name="Picture 5" descr="problem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7331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937760"/>
            <a:ext cx="1124712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0A2540"/>
                </a:solidFill>
              </a:rPr>
              <a:t>Why it matters  ·  Per-sample species abundance underlies microbiome diagnostics, infectious disease, ecology.  Existing k-mer tools (Kraken2/Bracken) fail on novel organisms — motivating learned representations.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The Comparison  ·  Three Model Families on Identical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3 / 16</a:t>
            </a:r>
          </a:p>
        </p:txBody>
      </p:sp>
      <p:pic>
        <p:nvPicPr>
          <p:cNvPr id="6" name="Picture 5" descr="three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688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0A2540"/>
                </a:solidFill>
              </a:rPr>
              <a:t>Orthogonal axes  ·  tokenisation × pre-training × routing  ·  all on same 50M training reads · same 100K independent test set · same 2,505-genome reference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200" b="0">
                <a:solidFill>
                  <a:srgbClr val="5A6068"/>
                </a:solidFill>
              </a:rPr>
              <a:t>Evaluation: read-level Top-1 + 5 sample-level metrics  (Pearson r · Spearman ρ · Bray-Curtis · ROC AUC · Sens@95%spec)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Backbone Selection  ·  Why NT-v2 Among DNA Foundation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4 / 16</a:t>
            </a:r>
          </a:p>
        </p:txBody>
      </p:sp>
      <p:pic>
        <p:nvPicPr>
          <p:cNvPr id="6" name="Picture 5" descr="foundation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4113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029200"/>
            <a:ext cx="566928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Controlled 5M comparison (left)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Same data · same task · same head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Only backbone varies — fairest possible test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NT-v2 narrowly leads at 5M (+0.8 pp vs DNABERT-1)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029200"/>
            <a:ext cx="530352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Why the lead widens at scale (right)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NT-v2 has 498M params · room to absorb 50M data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DNABERT-1/2 plateau earlier; we chose the model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  with the steepest scaling slope · validated at 50M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1  ·  Tokenisation Dominates Pre-training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5 / 16</a:t>
            </a:r>
          </a:p>
        </p:txBody>
      </p:sp>
      <p:pic>
        <p:nvPicPr>
          <p:cNvPr id="6" name="Picture 5" descr="tokenisation_domin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4250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Pre-training contributes, but cannot rescue an inadequate tokenisation at species granularity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2  ·  Data Volume Dominates Training Tricks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6 / 16</a:t>
            </a:r>
          </a:p>
        </p:txBody>
      </p:sp>
      <p:pic>
        <p:nvPicPr>
          <p:cNvPr id="6" name="Picture 5" descr="data_vs_tr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0311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scaling beats hyperparameter tuning by 10×  ·  invest engineering effort in data, not tricks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3  ·  Species-Level Practical Utility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7 / 16</a:t>
            </a:r>
          </a:p>
        </p:txBody>
      </p:sp>
      <p:pic>
        <p:nvPicPr>
          <p:cNvPr id="6" name="Picture 5" descr="utility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3654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097280"/>
            <a:ext cx="3474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Noise floor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00200"/>
            <a:ext cx="3474720" cy="41148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1,535 species · 1K reads / sample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Expected signal per species: 0.65 reads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At 17.8% accuracy: ~0.54 spurious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reads/species  →  SNR ≈ 1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At 50% accuracy: noise drops to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0.33/species  →  signal dominates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Threshold:  ~40-50%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Species abundance becomes useful only past ~40-50% read accuracy  ·  6-mer NT-v2 cannot reach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4  ·  Hierarchical Masking Is Router-Dependent (Monotonic)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8 / 16</a:t>
            </a:r>
          </a:p>
        </p:txBody>
      </p:sp>
      <p:pic>
        <p:nvPicPr>
          <p:cNvPr id="6" name="Picture 5" descr="router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7680960" cy="3632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097280"/>
            <a:ext cx="329184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</a:rPr>
              <a:t>Intuition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600200"/>
            <a:ext cx="3291840" cy="3657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Router right → mask removes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wrong candidates  (good)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Router wrong → mask excludes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the true species  (catastrophic)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Net effect = average of these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weighted by router accuracy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Crossover near ~80%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Hierarchical pipelines need router &gt; ~80% to be net positive  ·  not a free-lunch optimisation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5  ·  Per-Genus Oracle Quantifies the Tokenisation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9 / 16</a:t>
            </a:r>
          </a:p>
        </p:txBody>
      </p:sp>
      <p:pic>
        <p:nvPicPr>
          <p:cNvPr id="6" name="Picture 5" descr="oracle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9184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Even with PERFECT genus routing, 6-mer NT-v2 ceiling = 29.5%  ·  MT 13-mer 49.7% (no routing)  →  +20 pp tokenisation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Finding 6  ·  Kraken2 Wins In-DB · Fails on Novel Organisms (OOD)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10 / 16</a:t>
            </a:r>
          </a:p>
        </p:txBody>
      </p:sp>
      <p:pic>
        <p:nvPicPr>
          <p:cNvPr id="6" name="Picture 5" descr="kraken2_indb_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379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Learned methods complement, not replace, k-mer matching  ·  different deployment regimes (in-DB vs OOD)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Complete Results  ·  Sample-Level Evaluation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11 / 16</a:t>
            </a:r>
          </a:p>
        </p:txBody>
      </p:sp>
      <p:pic>
        <p:nvPicPr>
          <p:cNvPr id="6" name="Picture 5" descr="result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9162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 100K test  ·  1K reads/sample  ·  100 partition samples  ·  same DB, same data, same protocol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The Unifying Story  ·  Tokenisation Is the Hidden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12 / 16</a:t>
            </a:r>
          </a:p>
        </p:txBody>
      </p:sp>
      <p:pic>
        <p:nvPicPr>
          <p:cNvPr id="6" name="Picture 5" descr="story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3777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Foundation-model literature emphasises scale &amp; pre-training  ·  our study isolates tokenisation as decisive at species granularity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What This Work Contributes  ·  Four Standalone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13 / 16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143000"/>
            <a:ext cx="48463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</a:rPr>
              <a:t>Controlled 3-axis ablation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737360"/>
            <a:ext cx="484632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Same 50M data · same test · same protocol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Isolates tokenisation as dominant at species level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097280"/>
            <a:ext cx="640080" cy="640080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143000"/>
            <a:ext cx="48463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1E6091"/>
                </a:solidFill>
              </a:rPr>
              <a:t>Quantitative noise-floor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59" y="1737360"/>
            <a:ext cx="484632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Non-linear utility curve  ·  ~40-50% threshold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Mechanistic explanation via SNR model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49039"/>
            <a:ext cx="640080" cy="6400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(3)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94759"/>
            <a:ext cx="48463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</a:rPr>
              <a:t>Router quality threshold theorem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389120"/>
            <a:ext cx="484632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Monotonic across 3 router qualities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~80% accuracy required for net positive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749039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3794759"/>
            <a:ext cx="48463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B8860B"/>
                </a:solidFill>
              </a:rPr>
              <a:t>Same-DB Kraken2 + OOD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59" y="4389120"/>
            <a:ext cx="484632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Kraken2 wins in-DB (66%)  ·  fails on OOD (0%)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Positions learned methods as complementary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Publication Direction  ·  Candidate Venues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14 / 16</a:t>
            </a:r>
          </a:p>
        </p:txBody>
      </p:sp>
      <p:pic>
        <p:nvPicPr>
          <p:cNvPr id="6" name="Picture 5" descr="public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Recommended:  Bioinformatics journal (primary)  →  ML workshop if rejected  →  Thesis as baseline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Honest Assessment  ·  Strengths &amp; Weaknesses (with mitigations)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15 / 16</a:t>
            </a:r>
          </a:p>
        </p:txBody>
      </p:sp>
      <p:pic>
        <p:nvPicPr>
          <p:cNvPr id="6" name="Picture 5" descr="strengths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6725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Position as "controlled comparison study"  ·  add 1 real-dataset sanity check (e.g., HMP) before submission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Next Steps &amp; Questions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16 / 16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11430000" cy="37731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4114800"/>
            <a:ext cx="457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33088"/>
            <a:ext cx="233172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Bioinformatics journal as primary venue — agreed?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4114800"/>
            <a:ext cx="457200" cy="502920"/>
          </a:xfrm>
          <a:prstGeom prst="round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4133088"/>
            <a:ext cx="233172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Real-dataset validation before submission, or post-defense?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114800"/>
            <a:ext cx="457200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4264" y="4133088"/>
            <a:ext cx="233172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ML workshop (Option B) worth the effort?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4114800"/>
            <a:ext cx="457200" cy="50292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92056" y="4133088"/>
            <a:ext cx="233172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Collaborators / datasets you would want included?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