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53"/>
    <p:sldId id="257" r:id="rId54"/>
    <p:sldId id="258" r:id="rId55"/>
    <p:sldId id="259" r:id="rId56"/>
    <p:sldId id="260" r:id="rId57"/>
    <p:sldId id="261" r:id="rId58"/>
    <p:sldId id="262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slide" Target="slides/slide1.xml"/><Relationship Id="rId54" Type="http://schemas.openxmlformats.org/officeDocument/2006/relationships/slide" Target="slides/slide2.xml"/><Relationship Id="rId55" Type="http://schemas.openxmlformats.org/officeDocument/2006/relationships/slide" Target="slides/slide3.xml"/><Relationship Id="rId56" Type="http://schemas.openxmlformats.org/officeDocument/2006/relationships/slide" Target="slides/slide4.xml"/><Relationship Id="rId57" Type="http://schemas.openxmlformats.org/officeDocument/2006/relationships/slide" Target="slides/slide5.xml"/><Relationship Id="rId58" Type="http://schemas.openxmlformats.org/officeDocument/2006/relationships/slide" Target="slides/slide6.xml"/><Relationship Id="rId5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537" y="-55525"/>
            <a:ext cx="9242701" cy="51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09600" y="552449"/>
            <a:ext cx="7962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alibri"/>
              <a:buNone/>
              <a:defRPr b="1" sz="480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9600" y="2775339"/>
            <a:ext cx="79629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3000"/>
              <a:buNone/>
              <a:defRPr sz="3000">
                <a:solidFill>
                  <a:srgbClr val="0070C0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7084649" y="3485958"/>
            <a:ext cx="2083010" cy="2268423"/>
            <a:chOff x="0" y="0"/>
            <a:chExt cx="5554692" cy="6049127"/>
          </a:xfrm>
        </p:grpSpPr>
        <p:sp>
          <p:nvSpPr>
            <p:cNvPr id="14" name="Google Shape;14;p2"/>
            <p:cNvSpPr/>
            <p:nvPr/>
          </p:nvSpPr>
          <p:spPr>
            <a:xfrm>
              <a:off x="1246152" y="0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0"/>
                  </a:moveTo>
                  <a:lnTo>
                    <a:pt x="3137038" y="0"/>
                  </a:lnTo>
                  <a:lnTo>
                    <a:pt x="3137038" y="2683910"/>
                  </a:lnTo>
                  <a:lnTo>
                    <a:pt x="0" y="26839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 rot="10800000">
              <a:off x="1246152" y="1813058"/>
              <a:ext cx="3137038" cy="2683910"/>
            </a:xfrm>
            <a:custGeom>
              <a:rect b="b" l="l" r="r" t="t"/>
              <a:pathLst>
                <a:path extrusionOk="0" h="2683910" w="3137038">
                  <a:moveTo>
                    <a:pt x="0" y="2683911"/>
                  </a:moveTo>
                  <a:lnTo>
                    <a:pt x="3137038" y="2683911"/>
                  </a:lnTo>
                  <a:lnTo>
                    <a:pt x="3137038" y="0"/>
                  </a:lnTo>
                  <a:lnTo>
                    <a:pt x="0" y="0"/>
                  </a:lnTo>
                  <a:lnTo>
                    <a:pt x="0" y="2683911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0976" y="2345999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851564" y="1599894"/>
              <a:ext cx="3703128" cy="3703128"/>
            </a:xfrm>
            <a:custGeom>
              <a:rect b="b" l="l" r="r" t="t"/>
              <a:pathLst>
                <a:path extrusionOk="0" h="3703128" w="3703128">
                  <a:moveTo>
                    <a:pt x="0" y="0"/>
                  </a:moveTo>
                  <a:lnTo>
                    <a:pt x="3703128" y="0"/>
                  </a:lnTo>
                  <a:lnTo>
                    <a:pt x="3703128" y="3703128"/>
                  </a:lnTo>
                  <a:lnTo>
                    <a:pt x="0" y="37031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3895"/>
            <a:ext cx="9144003" cy="114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6412" y="0"/>
            <a:ext cx="9190415" cy="15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">
  <p:cSld name="4_Title and Content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9345"/>
            <a:ext cx="9144003" cy="29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">
  <p:cSld name="4_Title and Content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9144003" cy="29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">
  <p:cSld name="4_Title and Content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9144003" cy="23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2">
  <p:cSld name="4_Title and Content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5400004">
            <a:off x="6042990" y="2046290"/>
            <a:ext cx="4943447" cy="125442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2 1 1 1">
  <p:cSld name="4_Title and Content_2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429"/>
            <a:ext cx="9144003" cy="8170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 1">
  <p:cSld name="4_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228600" y="137319"/>
            <a:ext cx="87630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75" name="Google Shape;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061213"/>
            <a:ext cx="3019927" cy="6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8991601" cy="76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37318"/>
            <a:ext cx="86868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228600" y="18859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3" name="Google Shape;83;p11"/>
          <p:cNvSpPr txBox="1"/>
          <p:nvPr>
            <p:ph idx="2" type="title"/>
          </p:nvPr>
        </p:nvSpPr>
        <p:spPr>
          <a:xfrm>
            <a:off x="228600" y="14308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3" type="body"/>
          </p:nvPr>
        </p:nvSpPr>
        <p:spPr>
          <a:xfrm>
            <a:off x="4574288" y="19008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85" name="Google Shape;85;p11"/>
          <p:cNvSpPr txBox="1"/>
          <p:nvPr>
            <p:ph idx="4" type="title"/>
          </p:nvPr>
        </p:nvSpPr>
        <p:spPr>
          <a:xfrm>
            <a:off x="4574288" y="1445750"/>
            <a:ext cx="414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687" y="0"/>
            <a:ext cx="3479301" cy="27071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220795" y="5723"/>
            <a:ext cx="2789100" cy="2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503763" y="1276350"/>
            <a:ext cx="5487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3511500" y="1276350"/>
            <a:ext cx="5480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8450" y="-10975"/>
            <a:ext cx="3245550" cy="5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228600" y="137319"/>
            <a:ext cx="5670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228600" y="1276350"/>
            <a:ext cx="5670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228600" y="137319"/>
            <a:ext cx="8763000" cy="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228600" y="1276350"/>
            <a:ext cx="8763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9144003" cy="12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>
            <p:ph type="title"/>
          </p:nvPr>
        </p:nvSpPr>
        <p:spPr>
          <a:xfrm>
            <a:off x="228600" y="137318"/>
            <a:ext cx="8724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228600" y="13906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23" name="Google Shape;123;p17"/>
          <p:cNvSpPr txBox="1"/>
          <p:nvPr>
            <p:ph idx="2" type="body"/>
          </p:nvPr>
        </p:nvSpPr>
        <p:spPr>
          <a:xfrm>
            <a:off x="4574288" y="1405550"/>
            <a:ext cx="4141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0187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type="title"/>
          </p:nvPr>
        </p:nvSpPr>
        <p:spPr>
          <a:xfrm>
            <a:off x="238525" y="600600"/>
            <a:ext cx="15042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2239588" y="209550"/>
            <a:ext cx="5798100" cy="48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Char char="●"/>
              <a:defRPr/>
            </a:lvl1pPr>
            <a:lvl2pPr indent="-330200" lvl="1" marL="914400" rtl="0" algn="l">
              <a:spcBef>
                <a:spcPts val="200"/>
              </a:spcBef>
              <a:spcAft>
                <a:spcPts val="0"/>
              </a:spcAft>
              <a:buClr>
                <a:srgbClr val="FFAB40"/>
              </a:buClr>
              <a:buSzPts val="1600"/>
              <a:buChar char="○"/>
              <a:defRPr sz="1600"/>
            </a:lvl2pPr>
            <a:lvl3pPr indent="-3302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3pPr>
            <a:lvl4pPr indent="-3302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4pPr>
            <a:lvl5pPr indent="-3302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5pPr>
            <a:lvl6pPr indent="-3302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6pPr>
            <a:lvl7pPr indent="-3302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7pPr>
            <a:lvl8pPr indent="-3302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/>
            </a:lvl8pPr>
            <a:lvl9pPr indent="-3302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48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3" name="Google Shape;143;p21"/>
          <p:cNvSpPr/>
          <p:nvPr/>
        </p:nvSpPr>
        <p:spPr>
          <a:xfrm rot="-1568439">
            <a:off x="3046172" y="3499012"/>
            <a:ext cx="7933211" cy="4339915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 rot="7006851">
            <a:off x="-3366185" y="574240"/>
            <a:ext cx="6240666" cy="2859428"/>
          </a:xfrm>
          <a:custGeom>
            <a:rect b="b" l="l" r="r" t="t"/>
            <a:pathLst>
              <a:path extrusionOk="0" h="6491055" w="10511830">
                <a:moveTo>
                  <a:pt x="0" y="0"/>
                </a:moveTo>
                <a:lnTo>
                  <a:pt x="10511829" y="0"/>
                </a:lnTo>
                <a:lnTo>
                  <a:pt x="10511829" y="6491055"/>
                </a:lnTo>
                <a:lnTo>
                  <a:pt x="0" y="6491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7924800" y="4819650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6088" y="216100"/>
            <a:ext cx="416025" cy="49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09550"/>
            <a:ext cx="301399" cy="42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78600">
            <a:off x="-1278925" y="-830825"/>
            <a:ext cx="2488001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172507">
            <a:off x="5365621" y="1354192"/>
            <a:ext cx="2960024" cy="692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8686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1"/>
            <a:ext cx="86868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66089" y="4720432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Summary of Contributions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Genomic Foundation Models for Metagenomic Taxonomic Classification</a:t>
            </a:r>
          </a:p>
          <a:p>
            <a:pPr algn="ctr"/>
            <a:r>
              <a:rPr sz="1800"/>
              <a:t>楊明儒  ·  資工所碩二  ·  2026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Summary of Contributions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/>
              <a:t>Genomic Foundation Models for Metagenomic Taxonomic Classification</a:t>
            </a:r>
          </a:p>
          <a:p>
            <a:pPr algn="ctr"/>
            <a:r>
              <a:rPr sz="1800"/>
              <a:t>楊明儒  ·  資工所碩二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研究設定 — 任務、框架、規模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任務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Metagenomic DNA 短讀段 (150 bp) 分類到 genus（120 類）/ species（1,535 類）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資料集：2,505 HGR-UMGS 基因組 × ART 模擬 Illumina 讀段，共 258M reads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Framework：NT-v2 + LoRA（token-level pipeline）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backbone（498M params）+ AttentionPool head，LoRA on Q/K/V（1.1% trainable）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6-mer tokenization（繼承自 NT-v2 pre-training）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比較基準：MetaTransformer（from-scratch, 5M params）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可變 k-mer tokenization（6/12/13-mer × overlapping/non-overlapping）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同一 50M 訓練資料 → 同等訓練條件下的 controlled ablation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核心問題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Pre-training、data volume、tokenization 三者對分類準確率的相對貢獻是什麼？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Read-level accuracy 如何轉換成 sample-level 的實用性？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研究設定 — 任務、框架、規模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任務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Metagenomic DNA 短讀段 (150 bp) 分類到 genus（120 類）/ species（1,535 類）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資料集：2,505 HGR-UMGS 基因組 × ART 模擬 Illumina 讀段，共 258M reads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Framework：NT-v2 + LoRA（token-level pipeline）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backbone（498M params）+ AttentionPool head，LoRA on Q/K/V（1.1% trainable）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6-mer tokenization（繼承自 NT-v2 pre-training）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比較基準：MetaTransformer（from-scratch, 5M params）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可變 k-mer tokenization（6/12/13-mer × overlapping/non-overlapping）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同一 50M 訓練資料 → 同等訓練條件下的 controlled ablation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核心問題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Pre-training、data volume、tokenization 三者對分類準確率的相對貢獻是什麼？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Read-level accuracy 如何轉換成 sample-level 的實用性？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1 — Tokenization 是跨架構的主導因素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核心對比（genus Top-1 accuracy，50M reads）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+ LoRA  (pre-trained, 6-mer non-overlapping)        67.07%  RC TTA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     (scratch,      13-mer overlapping, stride=1)  87.42%         ← +20.35 pp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⟹  Tokenization 設計超越 pre-training 帶來的優勢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Tokenization 效應細分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Non-overlapping vs overlapping（固定 k=13）：+59.1 pp（28.3% → 87.4%）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k 增長（fixed stride=1）：6-mer 48.9% &lt; 12-mer 78.8% &lt; 13-mer 87.4%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兩個效應疊加：overlapping 是關鍵，長 k 是放大器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Pre-training 的貢獻（固定 6-mer tokenization）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pre-trained vs random-init（同架構、同 6-mer、50M reads）：+13.19 pp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Pre-trained GFM 比較：NT-v2 &gt; DNABERT (+1.27 pp) &gt; DNABERT-2 (+4.17 pp)  @5M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⟹  Pre-training 有效，但受限於繼承的 6-mer tokenization constraint</a:t>
            </a:r>
          </a:p>
          <a:p>
            <a:pPr/>
            <a:r>
              <a:rPr b="1" sz="1500">
                <a:solidFill>
                  <a:srgbClr val="C00000"/>
                </a:solidFill>
              </a:rPr>
              <a:t>結論：NT-v2 的主要瓶頸不是 backbone 容量或 LoRA，而是 6-mer tokenization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1 — Tokenization 是跨架構的主導因素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核心對比（genus Top-1 accuracy，50M reads）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+ LoRA  (pre-trained, 6-mer non-overlapping)        67.07%  RC TTA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     (scratch,      13-mer overlapping, stride=1)  87.42%         ← +20.35 pp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⟹  Tokenization 設計超越 pre-training 帶來的優勢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Tokenization 效應細分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Non-overlapping vs overlapping（固定 k=13）：+59.1 pp（28.3% → 87.4%）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k 增長（fixed stride=1）：6-mer 48.9% &lt; 12-mer 78.8% &lt; 13-mer 87.4%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兩個效應疊加：overlapping 是關鍵，長 k 是放大器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Pre-training 的貢獻（固定 6-mer tokenization）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NT-v2 pre-trained vs random-init（同架構、同 6-mer、50M reads）：+13.19 pp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Pre-trained GFM 比較：NT-v2 &gt; DNABERT (+1.27 pp) &gt; DNABERT-2 (+4.17 pp)  @5M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⟹  Pre-training 有效，但受限於繼承的 6-mer tokenization constraint</a:t>
            </a:r>
          </a:p>
          <a:p>
            <a:pPr/>
            <a:r>
              <a:rPr b="1" sz="1500">
                <a:solidFill>
                  <a:srgbClr val="C00000"/>
                </a:solidFill>
              </a:rPr>
              <a:t>結論：NT-v2 的主要瓶頸不是 backbone 容量或 LoRA，而是 6-mer tokenization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2 — Within GFM：Data Volume &gt;&gt; 所有技巧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Data scaling（genus RC TTA accuracy）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500K → 5M：+7.76 pp  |  5M → 50M：+4.02 pp  ← 每 10× 資料遞減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任何單一技巧的最大效益：±0.5 pp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各項 ablation 結果（genus，5M reads）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Head type（attention pool vs mean pool）：+0.3 pp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Logit Adjustment（針對 class imbalance）：±0.2 pp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RC Consistency loss（訓練時正向/互補一致）：+0.1 pp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Class balance（balanced subsampling）：macro F1 +12.27 pp，F1=0 class 9→2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RC TTA（test-time，免訓練）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Pre-trained backbone：+0.78 ~ +1.54 pp  |  Random-init：+0.08 pp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效果來自修正 pre-training 造成的 strand bias，而非降低 stochastic noise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結論：50M reads 之後繼續 scale data 仍有空間（預測 258M → 82–90%）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2 — Within GFM：Data Volume &gt;&gt; 所有技巧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Data scaling（genus RC TTA accuracy）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500K → 5M：+7.76 pp  |  5M → 50M：+4.02 pp  ← 每 10× 資料遞減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任何單一技巧的最大效益：±0.5 pp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各項 ablation 結果（genus，5M reads）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Head type（attention pool vs mean pool）：+0.3 pp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Logit Adjustment（針對 class imbalance）：±0.2 pp</a:t>
            </a:r>
          </a:p>
          <a:p>
            <a:pPr lvl="1"/>
            <a:r>
              <a:rPr b="0" sz="1300">
                <a:solidFill>
                  <a:srgbClr val="555555"/>
                </a:solidFill>
              </a:rPr>
              <a:t>RC Consistency loss（訓練時正向/互補一致）：+0.1 pp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Class balance（balanced subsampling）：macro F1 +12.27 pp，F1=0 class 9→2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RC TTA（test-time，免訓練）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Pre-trained backbone：+0.78 ~ +1.54 pp  |  Random-init：+0.08 pp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效果來自修正 pre-training 造成的 strand bias，而非降低 stochastic noise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結論：50M reads 之後繼續 scale data 仍有空間（預測 258M → 82–90%）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3 — Tokenization 決定 Sample-Level 實用性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Genus level（120 類，5M pool，50K reads/sample）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三個模型 Pearson r 全部 ≥ 0.984，genus 聚合具容錯性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NT-Genus（67%）r = 0.993，BC = 0.094  ←  接近 MT 13-mer（87%）r = 0.999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Species level（1,535 類，100K test set，1K reads/sample）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flat  49.7% → Pearson r = 0.466，ROC AUC = 0.966  ✓ 實用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hier. 50.9% → Pearson r = 0.478，ROC AUC = 0.967  ✓ 最佳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NT-Species      17.8% → Pearson r = 0.135  ← noise floor 限制（1,535 類，SNR≈1.2）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MT 6-mer        6–9%  → Pearson r = 0.034–0.065  ← 無法使用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Noise floor 機制（species level）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1,535 species，每個 absent species 平均收到 ~0.54 spurious reads / 1K sample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每個 present species 平均 signal ~0.65 reads → SNR ≈ 1.2 → r 被壓到 0.14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需要 ~40–50% read accuracy 才能讓 signal 超過 noise floor</a:t>
            </a:r>
          </a:p>
          <a:p>
            <a:pPr/>
            <a:r>
              <a:rPr b="1" sz="1500">
                <a:solidFill>
                  <a:srgbClr val="C00000"/>
                </a:solidFill>
              </a:rPr>
              <a:t>結論：6-mer tokenization（NT-v2 上限 ~18%）無法突破 species 實用門檻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Overlapping 13-mer（MT 13-mer 49.7%）剛好跨過，pre-training 無法補償 tokenization 缺口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3 — Tokenization 決定 Sample-Level 實用性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Genus level（120 類，5M pool，50K reads/sample）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三個模型 Pearson r 全部 ≥ 0.984，genus 聚合具容錯性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NT-Genus（67%）r = 0.993，BC = 0.094  ←  接近 MT 13-mer（87%）r = 0.999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Species level（1,535 類，100K test set，1K reads/sample）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flat  49.7% → Pearson r = 0.466，ROC AUC = 0.966  ✓ 實用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MT 13-mer hier. 50.9% → Pearson r = 0.478，ROC AUC = 0.967  ✓ 最佳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NT-Species      17.8% → Pearson r = 0.135  ← noise floor 限制（1,535 類，SNR≈1.2）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MT 6-mer        6–9%  → Pearson r = 0.034–0.065  ← 無法使用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Noise floor 機制（species level）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1,535 species，每個 absent species 平均收到 ~0.54 spurious reads / 1K sample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每個 present species 平均 signal ~0.65 reads → SNR ≈ 1.2 → r 被壓到 0.14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需要 ~40–50% read accuracy 才能讓 signal 超過 noise floor</a:t>
            </a:r>
          </a:p>
          <a:p>
            <a:pPr/>
            <a:r>
              <a:rPr b="1" sz="1500">
                <a:solidFill>
                  <a:srgbClr val="C00000"/>
                </a:solidFill>
              </a:rPr>
              <a:t>結論：6-mer tokenization（NT-v2 上限 ~18%）無法突破 species 實用門檻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Overlapping 13-mer（MT 13-mer 49.7%）剛好跨過，pre-training 無法補償 tokenization 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4 — Hierarchical Classification：驗證 + 瓶頸量化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Logit masking（MT 13-mer）：小但一致的提升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Flat → Hier.：Pearson r +0.012，BC −0.009，ROC AUC +0.0015，read acc +1.12 pp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四個指標全部改善——genus-guided masking 有效排除跨 genus 的混淆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NT-Species 同樣應用 logit masking（NT-Genus 66.1% router）：大多數指標反而下降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Read acc 17.8%→15.8%（−2.0 pp）；Pearson r 0.135→0.106（−0.029）；BC 0.589→0.608（worse）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⟹  Masking 效果取決於 router 品質：87.4% 有效；66.1% 有害；48.9% 有害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Per-genus 50M LoRA classifiers（100K test set，oracle routing）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Oracle routing：per-genus 27.8% &gt; flat sp_v4 27.4%  ← 驗證 per-genus specialisation 有效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Predicted routing（66.1% genus model）：14.7% &lt; flat 15.9%  ← routing error 蓋過 specialisation 優勢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Per-genus classifier 不認識自己 genus 以外的 read → out-of-distribution problem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Subgenus routing 嘗試（NT-v2 6-mer embedding + K-means）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Silhouette score ≈ 0.03（Collinsella 為例）——NT-v2 6-mer 無法在 embedding 空間分離同 genus species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Hard/soft subgenus routing 均降低 oracle Top-1：27.8% → 25.6–26.1%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⟹  Subgenus routing 需要更好的 representation，不是更多的 routing tier</a:t>
            </a:r>
          </a:p>
          <a:p>
            <a:pPr/>
            <a:r>
              <a:rPr b="1" sz="1500">
                <a:solidFill>
                  <a:srgbClr val="D06000"/>
                </a:solidFill>
              </a:rPr>
              <a:t>核心瓶頸：genus router 準確率（66–67%）決定了 hierarchical pipeline 的上限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Finding 4 — Hierarchical Classification：驗證 + 瓶頸量化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Logit masking（MT 13-mer）：小但一致的提升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Flat → Hier.：Pearson r +0.012，BC −0.009，ROC AUC +0.0015，read acc +1.12 pp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四個指標全部改善——genus-guided masking 有效排除跨 genus 的混淆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NT-Species 同樣應用 logit masking（NT-Genus 66.1% router）：大多數指標反而下降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Read acc 17.8%→15.8%（−2.0 pp）；Pearson r 0.135→0.106（−0.029）；BC 0.589→0.608（worse）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⟹  Masking 效果取決於 router 品質：87.4% 有效；66.1% 有害；48.9% 有害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Per-genus 50M LoRA classifiers（100K test set，oracle routing）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Oracle routing：per-genus 27.8% &gt; flat sp_v4 27.4%  ← 驗證 per-genus specialisation 有效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Predicted routing（66.1% genus model）：14.7% &lt; flat 15.9%  ← routing error 蓋過 specialisation 優勢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Per-genus classifier 不認識自己 genus 以外的 read → out-of-distribution problem</a:t>
            </a:r>
          </a:p>
          <a:p>
            <a:pPr/>
            <a:r>
              <a:rPr b="1" sz="1500">
                <a:solidFill>
                  <a:srgbClr val="0070C0"/>
                </a:solidFill>
              </a:rPr>
              <a:t>Subgenus routing 嘗試（NT-v2 6-mer embedding + K-means）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Silhouette score ≈ 0.03（Collinsella 為例）——NT-v2 6-mer 無法在 embedding 空間分離同 genus species</a:t>
            </a:r>
          </a:p>
          <a:p>
            <a:pPr lvl="1"/>
            <a:r>
              <a:rPr b="1" sz="1300">
                <a:solidFill>
                  <a:srgbClr val="C00000"/>
                </a:solidFill>
              </a:rPr>
              <a:t>Hard/soft subgenus routing 均降低 oracle Top-1：27.8% → 25.6–26.1%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⟹  Subgenus routing 需要更好的 representation，不是更多的 routing tier</a:t>
            </a:r>
          </a:p>
          <a:p>
            <a:pPr/>
            <a:r>
              <a:rPr b="1" sz="1500">
                <a:solidFill>
                  <a:srgbClr val="D06000"/>
                </a:solidFill>
              </a:rPr>
              <a:t>核心瓶頸：genus router 準確率（66–67%）決定了 hierarchical pipeline 的上限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Take-home Messages &amp; Future Direction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三個跨架構可推廣的結論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① Pre-training 有效，但受限於繼承的 tokenization 方案（+13 pp，但 tokenization 差距 +20 pp）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② Overlapping long-k tokenization 是 short-read 分類的關鍵設計選擇，非架構深度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③ Tokenization 決定的不只是 read accuracy，而是 sample-level 方法有無實用性的門檻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④ Hierarchical routing 有效但受限於 router 準確率；per-genus specialisation 在 oracle 下成立</a:t>
            </a:r>
          </a:p>
          <a:p>
            <a:pPr/>
            <a:r>
              <a:rPr b="1" sz="1500">
                <a:solidFill>
                  <a:srgbClr val="D06000"/>
                </a:solidFill>
              </a:rPr>
              <a:t>未完成的驗證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Taiwana2：MT 6-mer per-genus classifiers（81 個）→ 確認 per-genus decomposition 上界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NT-Species hierarchical（樣本級）：已完成——Pearson r 0.135→0.106（more evidence masking requires &gt;80% router）</a:t>
            </a:r>
          </a:p>
          <a:p>
            <a:pPr/>
            <a:r>
              <a:rPr b="1" sz="1500">
                <a:solidFill>
                  <a:srgbClr val="007000"/>
                </a:solidFill>
              </a:rPr>
              <a:t>最有潛力的下一步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Pre-train GFM with overlapping 13-mer tokenization on GTDB（&gt;400K microbial genomes）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同時獲得 13-mer tokenization 的區分力 + pre-training 的表示能力 → 預期突破兩個瓶頸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本研究的定位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提供 controlled ablation evidence：告訴社群「哪個設計因素最重要」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為 GFM + overlapping tokenization 的下一代模型提供明確的設計方向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Take-home Messages &amp; Future Direction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500">
                <a:solidFill>
                  <a:srgbClr val="0070C0"/>
                </a:solidFill>
              </a:rPr>
              <a:t>三個跨架構可推廣的結論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① Pre-training 有效，但受限於繼承的 tokenization 方案（+13 pp，但 tokenization 差距 +20 pp）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② Overlapping long-k tokenization 是 short-read 分類的關鍵設計選擇，非架構深度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③ Tokenization 決定的不只是 read accuracy，而是 sample-level 方法有無實用性的門檻</a:t>
            </a:r>
          </a:p>
          <a:p>
            <a:pPr lvl="1"/>
            <a:r>
              <a:rPr b="1" sz="1300">
                <a:solidFill>
                  <a:srgbClr val="000000"/>
                </a:solidFill>
              </a:rPr>
              <a:t>④ Hierarchical routing 有效但受限於 router 準確率；per-genus specialisation 在 oracle 下成立</a:t>
            </a:r>
          </a:p>
          <a:p>
            <a:pPr/>
            <a:r>
              <a:rPr b="1" sz="1500">
                <a:solidFill>
                  <a:srgbClr val="D06000"/>
                </a:solidFill>
              </a:rPr>
              <a:t>未完成的驗證</a:t>
            </a:r>
          </a:p>
          <a:p>
            <a:pPr lvl="1"/>
            <a:r>
              <a:rPr b="0" sz="1300">
                <a:solidFill>
                  <a:srgbClr val="000000"/>
                </a:solidFill>
              </a:rPr>
              <a:t>Taiwana2：MT 6-mer per-genus classifiers（81 個）→ 確認 per-genus decomposition 上界</a:t>
            </a:r>
          </a:p>
          <a:p>
            <a:pPr lvl="1"/>
            <a:r>
              <a:rPr b="1" sz="1300">
                <a:solidFill>
                  <a:srgbClr val="D06000"/>
                </a:solidFill>
              </a:rPr>
              <a:t>NT-Species hierarchical（樣本級）：已完成——Pearson r 0.135→0.106（more evidence masking requires &gt;80% router）</a:t>
            </a:r>
          </a:p>
          <a:p>
            <a:pPr/>
            <a:r>
              <a:rPr b="1" sz="1500">
                <a:solidFill>
                  <a:srgbClr val="007000"/>
                </a:solidFill>
              </a:rPr>
              <a:t>最有潛力的下一步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Pre-train GFM with overlapping 13-mer tokenization on GTDB（&gt;400K microbial genomes）</a:t>
            </a:r>
          </a:p>
          <a:p>
            <a:pPr lvl="1"/>
            <a:r>
              <a:rPr b="1" sz="1300">
                <a:solidFill>
                  <a:srgbClr val="007000"/>
                </a:solidFill>
              </a:rPr>
              <a:t>同時獲得 13-mer tokenization 的區分力 + pre-training 的表示能力 → 預期突破兩個瓶頸</a:t>
            </a:r>
          </a:p>
          <a:p>
            <a:pPr/>
            <a:r>
              <a:rPr b="1" sz="1500">
                <a:solidFill>
                  <a:srgbClr val="004080"/>
                </a:solidFill>
              </a:rPr>
              <a:t>本研究的定位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提供 controlled ablation evidence：告訴社群「哪個設計因素最重要」</a:t>
            </a:r>
          </a:p>
          <a:p>
            <a:pPr lvl="1"/>
            <a:r>
              <a:rPr b="1" sz="1300">
                <a:solidFill>
                  <a:srgbClr val="004080"/>
                </a:solidFill>
              </a:rPr>
              <a:t>為 GFM + overlapping tokenization 的下一代模型提供明確的設計方向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Complete Experiment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All Experiments — Genus Top-1 Accuracy  (RC TTA unless noted)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0" sz="1600">
                <a:solidFill>
                  <a:srgbClr val="404040"/>
                </a:solidFill>
              </a:rPr>
              <a:t>── NT-v2 Framework 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Frozen mean-pool (baseline, 1M)                         ~48%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NT-v2 + Attn-pool + LoRA,  5M balanced      (v8)       63.05%   +7.76 pp vs 500K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NT-v2 + Attn-pool + LoRA, 50M balanced      (v9)       67.07%   +4.02 pp vs 5M  ✓ best GFM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RC TTA benefit: +1.54 pp  |  Class balance: +12.27 pp macro F1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Backbone ablation: rand-init 1-layer, 50M   (v11)      53.88%   pre-training: +13.19 pp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DNABERT (overlap 6-mer, 86M), 5M                        61.78%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DNABERT-2 (BPE, 117M), 5M                               58.88%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 Tokenization Ablation (MetaTransformer, 50M scratch) 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s=6  (non-overlap)                            38.47%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 6-mer s=1  (overlap)                                48.87%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MT 12-mer s=1  (overlap)                                78.83%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MT 13-mer s=1  (overlap)                                87.42%   +20.35 pp vs v9  ✓ tokenization wins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 Species-level &amp; Hierarchical (50M, 1535 classes) ─────────────────────</a:t>
            </a:r>
          </a:p>
          <a:p>
            <a:pPr/>
            <a:r>
              <a:rPr b="0" sz="1600">
                <a:solidFill>
                  <a:srgbClr val="000000"/>
                </a:solidFill>
              </a:rPr>
              <a:t>sp_v4 flat baseline                                      15.9% T1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Per-genus oracle (81 classifiers)                        27.8% T1 &gt; sp_v4 oracle 27.4%  ✓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Per-genus predicted (v9 router 66.1%)                    14.7% T1  bottleneck: genus accuracy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Subgenus routing (K-means on NT-v2 embed.)        13.2–13.6% T1  ✗ FAILED — sil=0.03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 Complete Story — A Falsifiable Chain of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Step 1  Data volume dominates within NT-v2 framework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500K→5M: +7.76 pp  |  5M→50M: +4.02 pp  |  ablations ≤ ±0.5 pp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Step 2  Pre-training helps under FIXED tokenization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NT-v2 (pre-trained 29L) vs rand-init 1L, same 6-mer: +13.19 pp  → GFM pre-training valid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Step 3  Tokenization dominates across architectures  ← key finding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MT 13-mer scratch (87.42%) vs NT-v2 + LoRA (67.07%): +20.35 pp despite NO pre-training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NT-v2's non-overlapping 6-mer tokenizer = the structural ceiling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Step 4  Hierarchical architecture is the right direction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Per-genus oracle 27.8% &gt; sp_v4 oracle 27.4%  →  decomposition by genus adds value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Step 5  Subgenus routing cannot fix the bottleneck  ← negative result this week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Silhouette = 0.03  →  6-mer embeddings useless for intra-genus partitioning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Hard/soft routing both decrease accuracy  →  routing depth is NOT the path forward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Conclusion: problem is in the tokenizer, not the architecture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Next: pre-train GFM with overlapping 13-mer on microbial genomes  → this is a new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Status &amp; Publication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Thesis Status — 121 Pages — All Experiments Complete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0" sz="1600">
                <a:solidFill>
                  <a:srgbClr val="007000"/>
                </a:solidFill>
              </a:rPr>
              <a:t>Chapter 2  Background                                           ✓</a:t>
            </a:r>
          </a:p>
          <a:p>
            <a:pPr/>
            <a:r>
              <a:rPr b="0" sz="1600">
                <a:solidFill>
                  <a:srgbClr val="007000"/>
                </a:solidFill>
              </a:rPr>
              <a:t>Chapter 3  Methods (ART params, reproducibility audit, split)   ✓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Chapter 4  Experiments &amp; Results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§4.1–4.11  Ablations, scaling, RC TTA, tokenization, DNABERT   ✓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§4.12      Hierarchical species (sp_v4, per-genus, data leak fix) ✓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§4.12.7    Subgenus Routing: A Negative Result                  ✓  added this week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§4.13      Sample-level application evaluation                  ✓</a:t>
            </a:r>
          </a:p>
          <a:p>
            <a:pPr lvl="1"/>
            <a:r>
              <a:rPr b="0" sz="1400">
                <a:solidFill>
                  <a:srgbClr val="007000"/>
                </a:solidFill>
              </a:rPr>
              <a:t>§4.14      Summary of Findings                                  ✓</a:t>
            </a:r>
          </a:p>
          <a:p>
            <a:pPr/>
            <a:r>
              <a:rPr b="0" sz="1600">
                <a:solidFill>
                  <a:srgbClr val="007000"/>
                </a:solidFill>
              </a:rPr>
              <a:t>Chapter 5  Conclusion &amp; Future Work                             ✓  updated this week</a:t>
            </a:r>
          </a:p>
          <a:p>
            <a:pPr/>
            <a:r>
              <a:rPr b="0" sz="1600">
                <a:solidFill>
                  <a:srgbClr val="007000"/>
                </a:solidFill>
              </a:rPr>
              <a:t>Abstract (Chinese + English)                                    ✓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All experiments done.  Thesis is complete.  Ready for oral defense prep &amp; publication.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Why the Current Results Are Ready to Publish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Research questions are answered with controlled experiments: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Q1: token-level &gt; mean-pool? Yes (+13.37 pp at 5M)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Q2: pre-training compensates for tokenization? No (tokenization: +20.35 pp &gt; pre-training: +13.19 pp)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What would continued work add?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258M full training: NT-v2 framework, ~+5 pp → ~75%, does NOT change the conclusion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Pre-train 13-mer GFM: 6–12 months, GTDB 400K genomes, full new project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Real microbiome validation: needs external collaborators + real samples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None of these change the current paper's central claim:</a:t>
            </a:r>
          </a:p>
          <a:p>
            <a:pPr lvl="1"/>
            <a:r>
              <a:rPr b="1" sz="1400">
                <a:solidFill>
                  <a:srgbClr val="0070C0"/>
                </a:solidFill>
              </a:rPr>
              <a:t>Tokenization is the dominant design factor for GFM-based metagenomic classification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Competition: the field moves fast — each month = risk of being scooped</a:t>
            </a:r>
          </a:p>
          <a:p>
            <a:pPr/>
            <a:r>
              <a:rPr b="1" sz="1600">
                <a:solidFill>
                  <a:srgbClr val="007000"/>
                </a:solidFill>
              </a:rPr>
              <a:t>Negative result (subgenus routing) strengthens the story — shows we tested alternatives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Future Directions — What Must Be Decided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Direction A  ·  Publish current results  ←  RECOMMENDED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Target: Briefings in Bioinformatics (IF 9.5) or NAR Genomics &amp; Bioinformatics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Timeline: paper draft Jun, submit Aug, ~3 months to first decision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Most figures already exist in thesis — conversion is straightforward</a:t>
            </a:r>
          </a:p>
          <a:p>
            <a:pPr/>
            <a:r>
              <a:rPr b="0" sz="1600">
                <a:solidFill>
                  <a:srgbClr val="0070C0"/>
                </a:solidFill>
              </a:rPr>
              <a:t>Direction B  ·  Run 258M full training in parallel  ←  low-hanging fruit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Need streaming dataloader (no in-memory ceiling) + extended SLURM allocation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Expected: ~75% on NT-v2, confirms scaling trend — can be added to paper revision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Direction C  ·  Pre-train microbial GFM with 13-mer overlapping  ←  next project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GTDB database (~400K microbial genomes), new training infra, 6–12+ months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Best framed as follow-up paper, not revision of current work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E07000"/>
                </a:solidFill>
              </a:rPr>
              <a:t>Discussion: Which direction does 劉老師 recommend? Timeline for oral defense?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550" y="1530900"/>
            <a:ext cx="7962900" cy="2081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800">
                <a:solidFill>
                  <a:srgbClr val="0070C0"/>
                </a:solidFill>
                <a:latin typeface="Calibri"/>
              </a:rPr>
              <a:t>Backup / Reference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Q: Does Genome Length Cause Abundant Genera to Be Overestimated?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00"/>
                </a:solidFill>
              </a:rPr>
              <a:t>A:  No — genome length is NOT the cause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Reason 1  ART does use coverage-based simulation (reads ∝ genome length)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Read headers (&gt;lbl|717|UMGS1630|...) and per-genome read counts confirm -f flag</a:t>
            </a:r>
          </a:p>
          <a:p>
            <a:pPr lvl="1"/>
            <a:r>
              <a:rPr b="0" sz="1400">
                <a:solidFill>
                  <a:srgbClr val="404040"/>
                </a:solidFill>
              </a:rPr>
              <a:t>Longer genomes DO produce more raw reads: min=263, max=413, median=326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Reason 2  Balanced subsampling eliminates genome-length effect entirely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subsample_balanced.py takes equal reads per species (not per genome)</a:t>
            </a:r>
          </a:p>
          <a:p>
            <a:pPr lvl="1"/>
            <a:r>
              <a:rPr b="1" sz="1400">
                <a:solidFill>
                  <a:srgbClr val="007000"/>
                </a:solidFill>
              </a:rPr>
              <a:t>True abundance in eval = n_species_in_genus / 1535  — independent of genome length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/>
            <a:r>
              <a:rPr b="1" sz="1600">
                <a:solidFill>
                  <a:srgbClr val="C00000"/>
                </a:solidFill>
              </a:rPr>
              <a:t>Actual cause:  Classification Bias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Common genera (more species, more training data) → stronger representation → wider decision boundaries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Misclassified reads from rare genera disproportionately fall into common genera's regions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Result: rare genera predicted abundance ↓, common genera predicted abundance ↑ — systematic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Quantification: 33.9% misclassification rate; those misclassified reads concentrate in high-logit genera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→ Visible in scatter plot: high-abundance points drift above identity 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Complete Experiment Results — Numeric 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 sz="1600">
                <a:solidFill>
                  <a:srgbClr val="0070C0"/>
                </a:solidFill>
              </a:rPr>
              <a:t>Genus (120 classes) — RC TTA accuracy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v9 NT-v2 LoRA 50M → 67.07%  |  v8 5M → 63.05%  |  v11 rand-init → 53.88%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DNABERT 5M → 61.78%  |  DNABERT-2 5M → 58.88%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Tokenization ablation (MetaTransformer, 50M, genus)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13-mer s=1 → 87.42%  |  12-mer s=1 → 78.83%  |  6-mer s=1 → 48.87%  |  6-mer s=6 → 38.47%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Species (1535 classes)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sp_v4 flat fwd → 15.9% T1  |  sp_v4 oracle → 27.4%  |  MT 13-mer → 49.62%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Hierarchical (independent 100K test)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Per-genus oracle → 27.8%  |  predicted (v9 66.1%) → 14.7%</a:t>
            </a:r>
          </a:p>
          <a:p>
            <a:pPr lvl="1"/>
            <a:r>
              <a:rPr b="1" sz="1400">
                <a:solidFill>
                  <a:srgbClr val="C00000"/>
                </a:solidFill>
              </a:rPr>
              <a:t>Subgenus hard → 13.2% / 25.6%  |  soft → 13.6% / 26.1%  (failed)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Sample-level (v9, 5M val)</a:t>
            </a:r>
          </a:p>
          <a:p>
            <a:pPr lvl="1"/>
            <a:r>
              <a:rPr b="0" sz="1400">
                <a:solidFill>
                  <a:srgbClr val="000000"/>
                </a:solidFill>
              </a:rPr>
              <a:t>Pearson r = 0.993  |  Bray-Curtis = 0.094  |  ROC AUC = 0.705  |  100% sens @ ≥1%</a:t>
            </a:r>
          </a:p>
          <a:p>
            <a:pPr/>
            <a:r>
              <a:rPr b="0" sz="1600">
                <a:solidFill>
                  <a:srgbClr val="404040"/>
                </a:solidFill>
              </a:rPr>
              <a:t>RC TTA benefit: +0.78–1.54 pp (pre-trained), +0.08 pp (rand-init)</a:t>
            </a:r>
          </a:p>
          <a:p>
            <a:pPr/>
            <a:r>
              <a:rPr b="1" sz="1600">
                <a:solidFill>
                  <a:srgbClr val="0070C0"/>
                </a:solidFill>
              </a:rPr>
              <a:t>Pre-training advantage: +13.19 pp (v9 vs v11)  |  Tokenization gap: +20.35 pp (MT13 vs v9)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Data Scaling — Genus RC TTA Accuracy vs Training Volume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data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7715"/>
            <a:ext cx="8229600" cy="462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404040"/>
                </a:solidFill>
              </a:rPr>
              <a:t>500K→5M: +7.76 pp  |  5M→50M: +4.02 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Backbone Ablation: NT-v2 + LoRA (v9) vs Shallow Transformer (v11)  —  50M balanced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backbon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7715"/>
            <a:ext cx="8229600" cy="462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404040"/>
                </a:solidFill>
              </a:rPr>
              <a:t>Pre-trained 29-layer NT-v2 outperforms 1-layer random-init by +13.19 pp (RC TTA)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/>
              <a:t>RC TTA Benefit Across All Experiments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rc_tta_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7715"/>
            <a:ext cx="8229600" cy="462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404040"/>
                </a:solidFill>
              </a:rPr>
              <a:t>NT-v2 models: +0.78–+1.54 pp  |  DNABERT: +0.58 pp  |  Shallow v11: +0.08 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3C78D8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