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417320"/>
            <a:ext cx="640080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78D6"/>
                </a:solidFill>
                <a:latin typeface="Calibri"/>
              </a:rPr>
              <a:t>BRIEFINGS IN BIOINFORMATICS · PROBLEM-SOLVING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Full Manuscript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7D2E0"/>
                </a:solidFill>
                <a:latin typeface="Calibri"/>
              </a:rPr>
              <a:t>How should genomic foundation models be evaluated for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7D2E0"/>
                </a:solidFill>
                <a:latin typeface="Calibri"/>
              </a:rPr>
              <a:t>metagenomic taxonomic classification?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AEB8C4"/>
                </a:solidFill>
                <a:latin typeface="Calibri"/>
              </a:rPr>
              <a:t>A controlled benchmark of pre-training, tokenization, and data scaling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434840"/>
            <a:ext cx="10332720" cy="777240"/>
          </a:xfrm>
          <a:prstGeom prst="roundRect">
            <a:avLst/>
          </a:prstGeom>
          <a:solidFill>
            <a:srgbClr val="132A40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9784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Tokenization — not backbone pre-training — sets the performance ceiling for 150bp read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B8C4"/>
                </a:solidFill>
                <a:latin typeface="Calibri"/>
              </a:rPr>
              <a:t>Ming-Ju Yang · GIBEB, National Taiwan University · 2026-07-14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B8C4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EB8C4"/>
                </a:solidFill>
                <a:latin typeface="Calibri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0292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Calibri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EB8C4"/>
                </a:solidFill>
                <a:latin typeface="Calibri"/>
              </a:rPr>
              <a:t>Background → Methods → Results →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ABSTRACT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03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0B0B"/>
                </a:solidFill>
                <a:latin typeface="Calibri"/>
              </a:rPr>
              <a:t>Genomic foundation models (GFMs) show promise across many genomic tasks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196592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114296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0B0B"/>
                </a:solidFill>
                <a:latin typeface="Calibri"/>
              </a:rPr>
              <a:t>But their value for 150bp, signal-sparse metagenomic taxonomic classification is poorly characterized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096768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014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0B0B"/>
                </a:solidFill>
                <a:latin typeface="Calibri"/>
              </a:rPr>
              <a:t>It's unclear whether pre-training, tokenization, or data scale actually governs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3720592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638296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0B0B"/>
                </a:solidFill>
                <a:latin typeface="Calibri"/>
              </a:rPr>
              <a:t>This is the central question the manuscript systematically decomposes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3AA7"/>
                </a:solidFill>
                <a:latin typeface="Calibri"/>
              </a:rPr>
              <a:t>ABSTRACT ·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04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0B0B"/>
                </a:solidFill>
                <a:latin typeface="Calibri"/>
              </a:rPr>
              <a:t>Reads simulated from a unified human-gut genome catalogue: 120 genera, 1,535 species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180336"/>
            <a:ext cx="91440" cy="91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098040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0B0B"/>
                </a:solidFill>
                <a:latin typeface="Calibri"/>
              </a:rPr>
              <a:t>Four axes varied one at a time: data scale (500K–250M reads), pre-training (498M pretrained vs. random-init), tokenization (6/12/13-mer), evaluation level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048000"/>
            <a:ext cx="91440" cy="91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965704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0B0B"/>
                </a:solidFill>
                <a:latin typeface="Calibri"/>
              </a:rPr>
              <a:t>Three evaluation levels: read-level accuracy, sample-level abundance, binary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3655568"/>
            <a:ext cx="91440" cy="91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5732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0B0B"/>
                </a:solidFill>
                <a:latin typeface="Calibri"/>
              </a:rPr>
              <a:t>Benchmarked against the alignment-free classifier Kraken2 (raw and Bracken-corrected)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Calibri"/>
              </a:rPr>
              <a:t>ABSTRACT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Headline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05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B0B0B"/>
                </a:solidFill>
                <a:latin typeface="Calibri"/>
              </a:rPr>
              <a:t>Overlapping 13-mer tokenization sets the ceiling: 87.4% from scratch vs. 67.1% for a pretrained 6-mer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424176"/>
            <a:ext cx="91440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341880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B0B0B"/>
                </a:solidFill>
                <a:latin typeface="Calibri"/>
              </a:rPr>
              <a:t>The 6-mer model nearly saturates past 50M reads (+0.22pp); the 13-mer model keeps climbing to 98.7%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023616"/>
            <a:ext cx="91440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941320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B0B0B"/>
                </a:solidFill>
                <a:latin typeface="Calibri"/>
              </a:rPr>
              <a:t>With tokenization fixed, pre-training still contributes +13.2pp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3623056"/>
            <a:ext cx="91440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540760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B0B0B"/>
                </a:solidFill>
                <a:latin typeface="Calibri"/>
              </a:rPr>
              <a:t>Abundance: a 67%-accurate model reaches r=0.99; raw Kraken2 is r=0.82, Bracken-corrected reaches r=0.997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222496"/>
            <a:ext cx="91440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140200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B0B0B"/>
                </a:solidFill>
                <a:latin typeface="Calibri"/>
              </a:rPr>
              <a:t>On a real mock community, every method collapses to r≈0.4–0.6 — no clear winner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Five Headline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06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89611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82296" cy="89611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Calibri"/>
              </a:rPr>
              <a:t>① Data scaling benefit is tokenizer-dependent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91640"/>
            <a:ext cx="105156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50M→250M yields ~0 gain for 6-mer (+0.22pp) but +11pp for 13-mer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76272"/>
            <a:ext cx="11064240" cy="89611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76272"/>
            <a:ext cx="82296" cy="896112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677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Calibri"/>
              </a:rPr>
              <a:t>② Tokenization, not pre-training, sets the ceiling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79191"/>
            <a:ext cx="105156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13-mer from scratch (87.4%) beats a 498M-parameter pretrained 6-mer model (67.1%)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63824"/>
            <a:ext cx="11064240" cy="89611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163824"/>
            <a:ext cx="82296" cy="89611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552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Calibri"/>
              </a:rPr>
              <a:t>③ Pre-training is still an independent, real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66744"/>
            <a:ext cx="105156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Contributes +13.2pp at fixed tokenization — the two factors are separable and both matter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51376"/>
            <a:ext cx="11064240" cy="89611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51376"/>
            <a:ext cx="82296" cy="896112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4281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Calibri"/>
              </a:rPr>
              <a:t>④ Read-level and sample-level utility diverge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54296"/>
            <a:ext cx="105156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67%-accurate model reaches r=0.99 simulated, but that ranking doesn't transfer to a real mock community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38928"/>
            <a:ext cx="11064240" cy="89611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138928"/>
            <a:ext cx="82296" cy="89611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303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Calibri"/>
              </a:rPr>
              <a:t>⑤ Practical, use-case-specific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41848"/>
            <a:ext cx="105156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Future microbial foundation models should be pretrained with overlapping long-k tokenization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02920" cy="54864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AA7"/>
                </a:solidFill>
                <a:latin typeface="Calibri"/>
              </a:rPr>
              <a:t>BODY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Section-by-Section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EB8C4"/>
                </a:solidFill>
                <a:latin typeface="Calibri"/>
              </a:rPr>
              <a:t>§1 framing → §8 honest limitations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Calibri"/>
              </a:rPr>
              <a:t>MANUSCRIPT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How Nine Sections Build One Argument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08 / 19</a:t>
            </a:r>
          </a:p>
        </p:txBody>
      </p:sp>
      <p:pic>
        <p:nvPicPr>
          <p:cNvPr id="8" name="Picture 7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34440"/>
            <a:ext cx="1188720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§1–2 ·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Why Short-Read Classification Is an Uphill Battle for GFMs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09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B0B0B"/>
                </a:solidFill>
                <a:latin typeface="Calibri"/>
              </a:rPr>
              <a:t>Alignment-free tools (Kraken2/Centrifuge) are fast and accurate in-database but fail on novel organisms; GFMs excel elsewhere — can they help here?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341880"/>
            <a:ext cx="10177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① Short reads make long-range context modeling — GFMs' main strength — irrelevant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908808"/>
            <a:ext cx="10177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② Tokenization determines signal retention: NT-v2's non-overlapping 6-mers split motifs vs. Kraken2's overlapping long k-mers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695192"/>
            <a:ext cx="10177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③ A 120–1,535-way, long-tailed label space — the metric you pick changes who "wins"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3AA7"/>
                </a:solidFill>
                <a:latin typeface="Calibri"/>
              </a:rPr>
              <a:t>§3 · BENCHMARK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Design and Evaluation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10 / 19</a:t>
            </a:r>
          </a:p>
        </p:txBody>
      </p:sp>
      <p:pic>
        <p:nvPicPr>
          <p:cNvPr id="8" name="Picture 7" descr="desig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88720"/>
            <a:ext cx="1188720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2514E"/>
                </a:solidFill>
                <a:latin typeface="Calibri"/>
              </a:rPr>
              <a:t>Key detail: the 258.67M-read source pool has only 42.64M unique reads (6.07× redundancy); three test pools: natural-distribution / harder leftover / Kraken2 coverage-matched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§4 · DATA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Data Scaling and the Saturation Effect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11 / 19</a:t>
            </a:r>
          </a:p>
        </p:txBody>
      </p:sp>
      <p:pic>
        <p:nvPicPr>
          <p:cNvPr id="8" name="Picture 7" descr="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692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2514E"/>
                </a:solidFill>
                <a:latin typeface="Calibri"/>
              </a:rPr>
              <a:t>Further evidence: the 6-mer model can't even fit its own training set past ~66% (train≈val) — a representational, not optimization, ceiling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4948"/>
                </a:solidFill>
                <a:latin typeface="Calibri"/>
              </a:rPr>
              <a:t>§5 · CAUSAL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Pre-training vs. Tokenization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12 / 19</a:t>
            </a:r>
          </a:p>
        </p:txBody>
      </p:sp>
      <p:pic>
        <p:nvPicPr>
          <p:cNvPr id="8" name="Picture 7" descr="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88720"/>
            <a:ext cx="1188720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2514E"/>
                </a:solidFill>
                <a:latin typeface="Calibri"/>
              </a:rPr>
              <a:t>The test chain: exact-match lookup gets only 0.72% → the neural net adds +13pp over naive Bayes → conclusion: it learns composition, not memorization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Calibri"/>
              </a:rPr>
              <a:t>§6A · SAMPLE-LEVEL 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The Trade-off vs. Kraken2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13 / 19</a:t>
            </a:r>
          </a:p>
        </p:txBody>
      </p:sp>
      <p:pic>
        <p:nvPicPr>
          <p:cNvPr id="8" name="Picture 7" descr="kra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88720"/>
            <a:ext cx="96012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Calibri"/>
              </a:rPr>
              <a:t>§6B · REAL-WORLD 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ZymoBIOMICS Mock Community (D6331)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14 / 19</a:t>
            </a:r>
          </a:p>
        </p:txBody>
      </p:sp>
      <p:pic>
        <p:nvPicPr>
          <p:cNvPr id="8" name="Picture 7" descr="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88720"/>
            <a:ext cx="11887200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6692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A3AA7"/>
                </a:solidFill>
                <a:latin typeface="Calibri"/>
              </a:rPr>
              <a:t>§6's closing message: neural models hold no sample-level abundance advantage over a properly configured classical pipeline in-database; their real value is read-level accuracy and out-of-database robustness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02920" cy="54864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300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Recommendations, Limitations &amp;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EB8C4"/>
                </a:solidFill>
                <a:latin typeface="Calibri"/>
              </a:rPr>
              <a:t>§7–§8 + Supplementary + Summary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Calibri"/>
              </a:rPr>
              <a:t>§7 · PRACTICAL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Protocol, Decision Guide &amp; Advice for Model Builders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16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0B0B"/>
                </a:solidFill>
                <a:latin typeface="Calibri"/>
              </a:rPr>
              <a:t>Box 1: an 8-step reusable evaluation protocol (each step carries its own rationale/pitfall)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073656"/>
            <a:ext cx="10177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Fix read length first → split by read AND genome → count unique reads → change one axis at a time → evaluate 3 levels separately → use both raw and corrected classical baselines → unify the RC-TTA protocol → validate on real data and release everything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2909824"/>
            <a:ext cx="91440" cy="91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827528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Calibri"/>
              </a:rPr>
              <a:t>Box 2 decision guide: use Kraken2 for low-abundance detection; favor a long-k model for closed-set read classification; don't expect data scale to save a 6-mer-only GFM; no stable winner yet for real-community abundance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3728720"/>
            <a:ext cx="91440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46424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Calibri"/>
              </a:rPr>
              <a:t>For model builders: tokenization is the highest-leverage design choice — future microbial FMs should pretrain with overlapping 12–13-mers; the engineering challenge is that a long-k vocabulary implies a multi-billion-parameter embedding 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03B3B"/>
                </a:solidFill>
                <a:latin typeface="Calibri"/>
              </a:rPr>
              <a:t>§8 · DISCLOSED PROACTIVELY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Limitations and Future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0B0B"/>
                </a:solidFill>
                <a:latin typeface="Calibri"/>
              </a:rPr>
              <a:t>P0: closed-set evaluation — the 98.7%/r≈1 headline numbers are all in-catalogue; shown to be "learned composition," not lookup, but out-of-genome generalization remains the most important open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391664"/>
            <a:ext cx="91440" cy="91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309368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Calibri"/>
              </a:rPr>
              <a:t>Simulated-read limits: ART simulation may favor alignment/k-mer methods; the real mock-community probe already shows the gap, but it's still one standard / 11 genera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210560"/>
            <a:ext cx="91440" cy="91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128264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Calibri"/>
              </a:rPr>
              <a:t>Baseline breadth: only Kraken2 (raw + Bracken) compared; recommend adding Centrifuge and others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3793744"/>
            <a:ext cx="91440" cy="91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711448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Calibri"/>
              </a:rPr>
              <a:t>Single read length: simulation uses 150bp, mock uses 135bp, other lengths untested; RC-TTA applied only to NT-v2 (disclosed, doesn't affect qualitative conclusions)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8781"/>
                </a:solidFill>
                <a:latin typeface="Calibri"/>
              </a:rPr>
              <a:t>SUPPLEMENTARY + TO-DO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Supplementary Contents &amp; Pre-Submission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18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393192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0B0B"/>
                </a:solidFill>
                <a:latin typeface="Calibri"/>
              </a:rPr>
              <a:t>Supplementary (S1–S8): dataset/splits · training configs · other backbone comparisons · full results · train-fit ceiling · lookup analysis · compute cost · real mock-community detail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391664"/>
            <a:ext cx="91440" cy="9144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309368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Calibri"/>
              </a:rPr>
              <a:t>✅ Filled in: conflicts of interest, code availability (GitHub repo), AI-use disclosure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2974847"/>
            <a:ext cx="91440" cy="9144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89255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Calibri"/>
              </a:rPr>
              <a:t>⚠️ Still pending: funding amount/grant number, data DOI, second author + ORCID + CRediT initials, acknowledgments 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3793743"/>
            <a:ext cx="91440" cy="9144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711447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Calibri"/>
              </a:rPr>
              <a:t>⚠️ Still pending: re-confirm the optimizer/scheduler names in Supplementary S2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2514E"/>
                </a:solidFill>
                <a:latin typeface="Calibri"/>
              </a:rPr>
              <a:t>The science is complete and consistent; administrative info is the only remaining "non-scientific" gap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The Whole Paper on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19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64240" cy="12344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82296" cy="1234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Calibri"/>
              </a:rPr>
              <a:t>Core 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Separates three usually-entangled factors — data, pre-training, tokenization — with a rigorous one-factor-at-a-time design, and finds tokenization is the decisive variable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11064240" cy="12344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82296" cy="123444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Calibri"/>
              </a:rPr>
              <a:t>Most honest 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54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Proactively added the Bracken baseline to retract an over-claimed abundance advantage, and added a real mock community that exposes the simulated-to-real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3360"/>
            <a:ext cx="11064240" cy="12344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82296" cy="123444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Calibri"/>
              </a:rPr>
              <a:t>Biggest to-do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The out-of-genome generalization experiment (P0) + author/funding/DOI administrative info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11064240" cy="5486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Next: run the P0 experiment, then complete the administrative info, then submit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